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febc0a97f74bab" /><Relationship Type="http://schemas.openxmlformats.org/officeDocument/2006/relationships/extended-properties" Target="/docProps/app.xml" Id="Rd9a5d58b789f49c0" /><Relationship Type="http://schemas.openxmlformats.org/officeDocument/2006/relationships/officeDocument" Target="/ppt/presentation.xml" Id="R927767513bf54e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734d087134868"/>
  </p:sldMasterIdLst>
  <p:notesMasterIdLst>
    <p:notesMasterId xmlns:r="http://schemas.openxmlformats.org/officeDocument/2006/relationships" r:id="R4564961a55884e16"/>
  </p:notesMasterIdLst>
  <p:sldIdLst>
    <p:sldId xmlns:r="http://schemas.openxmlformats.org/officeDocument/2006/relationships" id="256" r:id="R636ba7e659024e57"/>
    <p:sldId xmlns:r="http://schemas.openxmlformats.org/officeDocument/2006/relationships" id="257" r:id="Rc8bcb1d9678c46d3"/>
    <p:sldId xmlns:r="http://schemas.openxmlformats.org/officeDocument/2006/relationships" id="258" r:id="Rd753c1c5d92b42b8"/>
    <p:sldId xmlns:r="http://schemas.openxmlformats.org/officeDocument/2006/relationships" id="259" r:id="R6531dffe36b84c29"/>
    <p:sldId xmlns:r="http://schemas.openxmlformats.org/officeDocument/2006/relationships" id="260" r:id="R13f4a9555abc4616"/>
    <p:sldId xmlns:r="http://schemas.openxmlformats.org/officeDocument/2006/relationships" id="261" r:id="Rb90655d3c0804807"/>
    <p:sldId xmlns:r="http://schemas.openxmlformats.org/officeDocument/2006/relationships" id="262" r:id="R9bf80533b3b249f3"/>
    <p:sldId xmlns:r="http://schemas.openxmlformats.org/officeDocument/2006/relationships" id="263" r:id="R9f8118d5e16943ef"/>
    <p:sldId xmlns:r="http://schemas.openxmlformats.org/officeDocument/2006/relationships" id="264" r:id="Rba4f9d46e10e483f"/>
    <p:sldId xmlns:r="http://schemas.openxmlformats.org/officeDocument/2006/relationships" id="265" r:id="Rb481a86bd2df48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16fcd90ae94689" /><Relationship Type="http://schemas.openxmlformats.org/officeDocument/2006/relationships/slideMaster" Target="/ppt/slideMasters/slideMaster1.xml" Id="Rbab734d087134868" /><Relationship Type="http://schemas.openxmlformats.org/officeDocument/2006/relationships/notesMaster" Target="/ppt/notesMasters/notesMaster1.xml" Id="R4564961a55884e16" /><Relationship Type="http://schemas.openxmlformats.org/officeDocument/2006/relationships/presProps" Target="/ppt/presProps.xml" Id="R71c2405437fa461c" /><Relationship Type="http://schemas.openxmlformats.org/officeDocument/2006/relationships/tableStyles" Target="/ppt/tableStyles.xml" Id="Rbd3a559fc7b640cb" /><Relationship Type="http://schemas.openxmlformats.org/officeDocument/2006/relationships/slide" Target="/ppt/slides/slide1.xml" Id="R636ba7e659024e57" /><Relationship Type="http://schemas.openxmlformats.org/officeDocument/2006/relationships/slide" Target="/ppt/slides/slide2.xml" Id="Rc8bcb1d9678c46d3" /><Relationship Type="http://schemas.openxmlformats.org/officeDocument/2006/relationships/slide" Target="/ppt/slides/slide3.xml" Id="Rd753c1c5d92b42b8" /><Relationship Type="http://schemas.openxmlformats.org/officeDocument/2006/relationships/slide" Target="/ppt/slides/slide4.xml" Id="R6531dffe36b84c29" /><Relationship Type="http://schemas.openxmlformats.org/officeDocument/2006/relationships/slide" Target="/ppt/slides/slide5.xml" Id="R13f4a9555abc4616" /><Relationship Type="http://schemas.openxmlformats.org/officeDocument/2006/relationships/slide" Target="/ppt/slides/slide6.xml" Id="Rb90655d3c0804807" /><Relationship Type="http://schemas.openxmlformats.org/officeDocument/2006/relationships/slide" Target="/ppt/slides/slide7.xml" Id="R9bf80533b3b249f3" /><Relationship Type="http://schemas.openxmlformats.org/officeDocument/2006/relationships/slide" Target="/ppt/slides/slide8.xml" Id="R9f8118d5e16943ef" /><Relationship Type="http://schemas.openxmlformats.org/officeDocument/2006/relationships/slide" Target="/ppt/slides/slide9.xml" Id="Rba4f9d46e10e483f" /><Relationship Type="http://schemas.openxmlformats.org/officeDocument/2006/relationships/slide" Target="/ppt/slides/slide10.xml" Id="Rb481a86bd2df48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2e73cd5758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69636e74884388" /><Relationship Type="http://schemas.openxmlformats.org/officeDocument/2006/relationships/notesMaster" Target="/ppt/notesMasters/notesMaster1.xml" Id="Rce0d15dd14cb4f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d84925ed22495e" /><Relationship Type="http://schemas.openxmlformats.org/officeDocument/2006/relationships/notesMaster" Target="/ppt/notesMasters/notesMaster1.xml" Id="R7c950ef82fb648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51914ff4584de6" /><Relationship Type="http://schemas.openxmlformats.org/officeDocument/2006/relationships/notesMaster" Target="/ppt/notesMasters/notesMaster1.xml" Id="R614357523c7a48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d3ea5bb2d4496f" /><Relationship Type="http://schemas.openxmlformats.org/officeDocument/2006/relationships/notesMaster" Target="/ppt/notesMasters/notesMaster1.xml" Id="R2d3c32db58274b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4e80abefa14cb1" /><Relationship Type="http://schemas.openxmlformats.org/officeDocument/2006/relationships/notesMaster" Target="/ppt/notesMasters/notesMaster1.xml" Id="R5e0283498e2544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b1126572a5454d" /><Relationship Type="http://schemas.openxmlformats.org/officeDocument/2006/relationships/notesMaster" Target="/ppt/notesMasters/notesMaster1.xml" Id="R7ea4cc80283e42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f5736d8cbd4ea9" /><Relationship Type="http://schemas.openxmlformats.org/officeDocument/2006/relationships/notesMaster" Target="/ppt/notesMasters/notesMaster1.xml" Id="R6d324f9917bd4c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e483f3efd347fd" /><Relationship Type="http://schemas.openxmlformats.org/officeDocument/2006/relationships/notesMaster" Target="/ppt/notesMasters/notesMaster1.xml" Id="R2ed2ad3004f0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f0287a132943aa" /><Relationship Type="http://schemas.openxmlformats.org/officeDocument/2006/relationships/notesMaster" Target="/ppt/notesMasters/notesMaster1.xml" Id="Rdbf98efb292c4f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a84d06dc844377" /><Relationship Type="http://schemas.openxmlformats.org/officeDocument/2006/relationships/notesMaster" Target="/ppt/notesMasters/notesMaster1.xml" Id="R768b763e575b40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ภาพตราสัญลักษณ์: assets/icon.png</a:t>
            </a:r>
          </a:p>
          <a:p xmlns:a="http://schemas.openxmlformats.org/drawingml/2006/main">
            <a:r>
              <a:t>- ข้อความสรุปจากฟีเจอร์ในโค้ดของโครงการ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เส้นทางใช้งานอ้างอิง: vhv/scan.php, vhv/screening_form.php, api/save_screening.php</a:t>
            </a:r>
          </a:p>
          <a:p xmlns:a="http://schemas.openxmlformats.org/drawingml/2006/main">
            <a:r>
              <a:t>- งานหลังบ้านอ้างอิง: admin/assignment.php, admin/index.php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ฟีเจอร์สแกน: vhv/scan.php และ api/check_qrcode.php</a:t>
            </a:r>
          </a:p>
          <a:p xmlns:a="http://schemas.openxmlformats.org/drawingml/2006/main">
            <a:r>
              <a:t>- ฟอร์มคัดกรอง: vhv/screening_form.php</a:t>
            </a:r>
          </a:p>
          <a:p xmlns:a="http://schemas.openxmlformats.org/drawingml/2006/main">
            <a:r>
              <a:t>- การตรวจพิกัดและบันทึกเหตุการณ์: api/save_screening.php</a:t>
            </a:r>
          </a:p>
          <a:p xmlns:a="http://schemas.openxmlformats.org/drawingml/2006/main">
            <a:r>
              <a:t>- ภาพประกอบ: assets/img/vhv_screening_mockup.png (mockup)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ชุดข้อมูลและลำดับฟอร์ม: vhv/screening_form.php</a:t>
            </a:r>
          </a:p>
          <a:p xmlns:a="http://schemas.openxmlformats.org/drawingml/2006/main">
            <a:r>
              <a:t>- เหตุผลการข้ามเคส: vhv/screening_form.php และ api/save_screening.php</a:t>
            </a:r>
          </a:p>
          <a:p xmlns:a="http://schemas.openxmlformats.org/drawingml/2006/main">
            <a:r>
              <a:t>- ภาพประกอบ: assets/img/vhv_screening_mockup.png (mockup)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แท็บงานและสถานะ: vhv/index.php, api/get_vhv_tasks.php</a:t>
            </a:r>
          </a:p>
          <a:p xmlns:a="http://schemas.openxmlformats.org/drawingml/2006/main">
            <a:r>
              <a:t>- ออฟไลน์และคิวซิงก์: vhv/service-worker.js, vhv/screening_form.php, vhv/dpac_form.php</a:t>
            </a:r>
          </a:p>
          <a:p xmlns:a="http://schemas.openxmlformats.org/drawingml/2006/main">
            <a:r>
              <a:t>- แต้มและอันดับ: vhv/leaderboard.php, api/get_vhv_rewards.php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แดชบอร์ดและชุดกราฟ: admin/index.php</a:t>
            </a:r>
          </a:p>
          <a:p xmlns:a="http://schemas.openxmlformats.org/drawingml/2006/main">
            <a:r>
              <a:t>- การวิเคราะห์เพิ่มเติม: admin/analytics.php</a:t>
            </a:r>
          </a:p>
          <a:p xmlns:a="http://schemas.openxmlformats.org/drawingml/2006/main">
            <a:r>
              <a:t>- ภาพประกอบ: assets/img/admin_dashboard_mockup.png (mockup)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การนำเข้าและ ETL: admin/hdc_import.php, admin/process_etl.php</a:t>
            </a:r>
          </a:p>
          <a:p xmlns:a="http://schemas.openxmlformats.org/drawingml/2006/main">
            <a:r>
              <a:t>- การกำหนดเป้าหมายและมอบหมาย: admin/target_manager.php, admin/assignment.php, api/assign_tasks.php</a:t>
            </a:r>
          </a:p>
          <a:p xmlns:a="http://schemas.openxmlformats.org/drawingml/2006/main">
            <a:r>
              <a:t>- การควบรวมข้อมูล: config/db.php และ admin/clean_db.php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แผนที่และตัวกรอง: admin/index.php</a:t>
            </a:r>
          </a:p>
          <a:p xmlns:a="http://schemas.openxmlformats.org/drawingml/2006/main">
            <a:r>
              <a:t>- การอัปเดตพิกัด: api/update_coordinates.php</a:t>
            </a:r>
          </a:p>
          <a:p xmlns:a="http://schemas.openxmlformats.org/drawingml/2006/main">
            <a:r>
              <a:t>- ภาพประกอบ: assets/img/district_map_mockup.png (mockup)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Visitor masking และ read-only interceptor: config/db.php</a:t>
            </a:r>
          </a:p>
          <a:p xmlns:a="http://schemas.openxmlformats.org/drawingml/2006/main">
            <a:r>
              <a:t>- Sandbox lifecycle: api/toggle_sandbox.php, api/admin_db.php</a:t>
            </a:r>
          </a:p>
          <a:p xmlns:a="http://schemas.openxmlformats.org/drawingml/2006/main">
            <a:r>
              <a:t>- สิทธิ์และการอนุมัติ: index.php, admin/vhv_approval.php</a:t>
            </a:r>
          </a:p>
          <a:p xmlns:a="http://schemas.openxmlformats.org/drawingml/2006/main">
            <a:r>
              <a:t>- บันทึกเหตุการณ์: api/check_qrcode.php, api/save_screening.php, admin/security_log.php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สรุปจากฟีเจอร์ที่ตรวจพบในโครงการทั้งหมด</a:t>
            </a:r>
          </a:p>
          <a:p xmlns:a="http://schemas.openxmlformats.org/drawingml/2006/main">
            <a:r>
              <a:t>- เส้นทางสาธิต: vhv/scan.php → vhv/screening_form.php → api/save_screening.php → admin/index.php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53f17470543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7473345c1b4708" /><Relationship Type="http://schemas.openxmlformats.org/officeDocument/2006/relationships/slideLayout" Target="/ppt/slideLayouts/slideLayout1.xml" Id="R8129c162294c4a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29c162294c4a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24bc9783f4329" /><Relationship Type="http://schemas.openxmlformats.org/officeDocument/2006/relationships/image" Target="/ppt/media/image.png" Id="Rbf0b5bfc3f354a63" /><Relationship Type="http://schemas.openxmlformats.org/officeDocument/2006/relationships/notesSlide" Target="/ppt/notesSlides/notesSlide1.xml" Id="Rbdeaa497c71e4f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ae0343de64d9f" /><Relationship Type="http://schemas.openxmlformats.org/officeDocument/2006/relationships/notesSlide" Target="/ppt/notesSlides/notesSlide2.xml" Id="R972225f1c83b4e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a58d1f3f04c93" /><Relationship Type="http://schemas.openxmlformats.org/officeDocument/2006/relationships/image" Target="/ppt/media/image.jpeg" Id="R11752ffaa8b14601" /><Relationship Type="http://schemas.openxmlformats.org/officeDocument/2006/relationships/notesSlide" Target="/ppt/notesSlides/notesSlide3.xml" Id="Rd185a73f7d554c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60b7d317d4df1" /><Relationship Type="http://schemas.openxmlformats.org/officeDocument/2006/relationships/image" Target="/ppt/media/image2.jpeg" Id="Racc0176d1d714bca" /><Relationship Type="http://schemas.openxmlformats.org/officeDocument/2006/relationships/notesSlide" Target="/ppt/notesSlides/notesSlide4.xml" Id="Rf5a5ad19ab6c40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9e63f4f8d463b" /><Relationship Type="http://schemas.openxmlformats.org/officeDocument/2006/relationships/notesSlide" Target="/ppt/notesSlides/notesSlide5.xml" Id="R5043443626fb4d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ebd60da774595" /><Relationship Type="http://schemas.openxmlformats.org/officeDocument/2006/relationships/image" Target="/ppt/media/image3.jpeg" Id="Rae704989bad44e28" /><Relationship Type="http://schemas.openxmlformats.org/officeDocument/2006/relationships/notesSlide" Target="/ppt/notesSlides/notesSlide6.xml" Id="R62b47f8cd0b645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e5a1330b74622" /><Relationship Type="http://schemas.openxmlformats.org/officeDocument/2006/relationships/notesSlide" Target="/ppt/notesSlides/notesSlide7.xml" Id="Rb6be35e3a9d243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92c551bea4503" /><Relationship Type="http://schemas.openxmlformats.org/officeDocument/2006/relationships/image" Target="/ppt/media/image4.jpeg" Id="Rc01557a87cb648d0" /><Relationship Type="http://schemas.openxmlformats.org/officeDocument/2006/relationships/notesSlide" Target="/ppt/notesSlides/notesSlide8.xml" Id="Rd45143b67cb64d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176f9af9c4ea5" /><Relationship Type="http://schemas.openxmlformats.org/officeDocument/2006/relationships/notesSlide" Target="/ppt/notesSlides/notesSlide9.xml" Id="R9bb56c34db2c49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ed3752edc4f8d" /><Relationship Type="http://schemas.openxmlformats.org/officeDocument/2006/relationships/notesSlide" Target="/ppt/notesSlides/notesSlide10.xml" Id="R74277f7e050e42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76E78-589C-4844-BB3E-22ED91A0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52A9A-557A-4B20-9E52-22304428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32AA9-CB30-4B1D-A500-73BC7416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NCD PORTAL • ตาลสุม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A56AE-6614-4E1E-B7F0-4D07AE7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52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Simple &amp; Easy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1138A-257B-40EC-8913-B4C353A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ระบบคัดกรองและติดตาม NCDs</a:t>
            </a:r>
          </a:p>
          <a:p xmlns:a="http://schemas.openxmlformats.org/drawingml/2006/main">
            <a:pPr algn="l">
              <a:defRPr sz="2250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ที่ทำให้งานหน้าบ้านง่าย และงานหลังบ้านเห็นภาพเดียวกัน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5784B-A575-4A76-992A-66A84EB7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74FD0-4BBD-46E9-937C-1072F4F3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สแกนง่าย  •  บันทึกง่าย  •  ติดตามง่าย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553BE-7C62-4ACB-AEDC-9B645F36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การนำเสนอผลงานโปรแกรม • ปี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547D2-8C75-4C43-8AF2-28A12302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762250" cy="276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b5bfc3f354a63"/>
          <a:stretch xmlns:a="http://schemas.openxmlformats.org/drawingml/2006/main"/>
        </p:blipFill>
        <p:spPr>
          <a:xfrm xmlns:a="http://schemas.openxmlformats.org/drawingml/2006/main">
            <a:off x="8429625" y="171450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9A174-B6A8-43E0-89CB-20DE412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9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Frontline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8E822-8EFB-4E65-8419-56168719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25FBD-EA14-4B7D-9517-A80595CF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19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Back office</a:t>
            </a:r>
          </a:p>
        </p:txBody>
      </p:sp>
    </p:spTree>
    <p:extLst>
      <p:ext uri="{BB962C8B-B14F-4D97-AF65-F5344CB8AC3E}">
        <p14:creationId xmlns:p14="http://schemas.microsoft.com/office/powerpoint/2010/main" val="995898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62F094-DD86-4C11-BEEF-E2DE4512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SIMPLE &amp; EASY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903A6-D39C-4C65-B24D-19F4FAB3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เส้นทางที่สั้น ทำให้ทุกบทบาททำงานต่อกันได้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64554-1222-4A32-A600-971341EE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9CE42-98F0-4198-A62C-C6A945BF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หน้าบ้าน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C74B0-8AF7-441A-B980-2D43BC48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หลังบ้าน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3BBB5-3375-4F0C-BF9F-43BF7ED2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9239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9FE64-10EC-4D4D-BCC8-E68360C0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90775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C6D0B-06E0-4DF3-A35E-37966794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907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3209E-0147-4D79-BD44-ECCF78A0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สแกน QR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5CC53-AD16-4BC2-A358-31AFDDF8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เปิดรายชื่อบ้าน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63486-BB8F-4AF6-ADFB-5A0D384A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90775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B2D45-035D-4789-B03D-745C2456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907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BD955-A395-45FD-810A-E517FBA2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09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คัดกรอง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1C4EF-EAAF-4296-A715-11165C6F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385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บันทึกค่าที่จำเป็น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29A35-0D51-4C85-A564-3E5991B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90775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AA106-B1BA-4789-92DC-C414CA74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907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56B8F-FD2C-4478-AFD9-A345FB3D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9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ส่งงาน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50176-65B5-40A2-A063-52F46A59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385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ออนไลน์หรือรอซิงก์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D4219-765E-4639-81CC-B9D9BE1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90775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67E4F-ADBA-4F3E-B1E5-FC8C80CC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907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1BE62-4D48-4360-8098-84395FA2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09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จัดการงาน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B787C-5670-48DE-9017-799E8B0A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385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มอบหมายและติดตาม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BE8EF-AF81-43ED-94A6-C91BA418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90775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1DB1D-000F-4B51-8D45-A859D08C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907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067F1-2D02-48ED-9715-FAB993F2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09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เห็นภาพรวม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F3DE9-3CBF-43FF-A7BD-929EF77E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385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แดชบอร์ดและแผนที่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F296D-C823-4D71-B528-D9922C1D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0E205-BD21-4C0A-8DE4-EEAFADBE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81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แนวคิดเดียวกันทั้งระบบ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80510-AC03-469A-9772-571C202C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35305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ลดขั้นตอนที่ไม่จำเป็น • ใช้คำที่คุ้นเคย • แสดงเฉพาะสิ่งที่ต้องทำในจังหวะนั้น</a:t>
            </a:r>
          </a:p>
        </p:txBody>
      </p:sp>
    </p:spTree>
    <p:extLst>
      <p:ext uri="{BB962C8B-B14F-4D97-AF65-F5344CB8AC3E}">
        <p14:creationId xmlns:p14="http://schemas.microsoft.com/office/powerpoint/2010/main" val="1281108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F2695-E647-45A6-93C5-71F8E47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FRONTLINE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2FBE7-FDE6-4CC0-9A90-9C3BF959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จาก QR ถึงผลคัดกรองในไม่กี่ขั้น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1D79B-1BAC-4EE4-9CE2-1B2AB0CA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854A0-AA71-4E7B-AD05-72268D8C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15FC3-47F0-47DE-BFB8-15420CCE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สแกนบ้านหรือบุคคล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888AF-C144-4CB0-A784-9ADBFF8F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ดึงเฉพาะงานที่มอบหมายให้ อสม. คนนั้น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AD8B7-E01F-4D2D-8866-E7026A96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1439A-A555-4D12-8CFD-29C0DF3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77B9A-D9A1-4787-9C5E-9D1B0C74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04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เลือกคนแล้วคัดกรอง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C6DB2-2EB9-4311-A657-EACDA5E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ข้อมูลพื้นฐาน สัญญาณชีพ และพฤติกรรมอยู่ในเส้นทางเดียว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CA8A4-4699-4EB1-8128-9A06AFD0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F9ADE-98EC-4557-B144-1AB99A0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F04AF-E208-4C42-93ED-DB7425B6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625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บันทึกพร้อมพิกัด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E348E-FD37-46D4-B3B6-E7E0328D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972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ระบบตรวจระยะจากจุดปฏิบัติงานและเก็บเหตุการณ์ผิดปกติ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F36C6-37BA-4C72-A129-B0FDD611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4953000" cy="4953000"/>
          </a:xfrm>
          <a:prstGeom xmlns:a="http://schemas.openxmlformats.org/drawingml/2006/main" prst="roundRect">
            <a:avLst>
              <a:gd name="adj" fmla="val 6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52ffaa8b14601"/>
          <a:stretch xmlns:a="http://schemas.openxmlformats.org/drawingml/2006/main"/>
        </p:blipFill>
        <p:spPr>
          <a:xfrm xmlns:a="http://schemas.openxmlformats.org/drawingml/2006/main">
            <a:off x="6238875" y="1562100"/>
            <a:ext cx="4953000" cy="4953000"/>
          </a:xfrm>
          <a:prstGeom xmlns:a="http://schemas.openxmlformats.org/drawingml/2006/main" prst="roundRect">
            <a:avLst>
              <a:gd name="adj" fmla="val 6538"/>
            </a:avLst>
          </a:prstGeom>
        </p:spPr>
      </p:pic>
    </p:spTree>
    <p:extLst>
      <p:ext uri="{BB962C8B-B14F-4D97-AF65-F5344CB8AC3E}">
        <p14:creationId xmlns:p14="http://schemas.microsoft.com/office/powerpoint/2010/main" val="90621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6B736-7D0C-4310-98CA-5D0E1076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FRONTLINE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B7ACF-D63B-446A-B5C4-554EA620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แบบฟอร์มเดียว เก็บข้อมูลที่หน้างานต้องใช้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6620D-D7DD-4C0B-9206-D91CA2EE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0176d1d714bca"/>
          <a:stretch xmlns:a="http://schemas.openxmlformats.org/drawingml/2006/main"/>
        </p:blipFill>
        <p:spPr>
          <a:xfrm xmlns:a="http://schemas.openxmlformats.org/drawingml/2006/main">
            <a:off x="685800" y="1833563"/>
            <a:ext cx="4333875" cy="4333875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99440-F333-40C0-872A-6A199CE0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716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ข้อมูลคัดกรองหลัก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3D053-4E60-42BC-BE89-59320F86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0A77F-668A-41E2-B6BB-B9E5E72D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ร่างกาย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2A67E-2601-4BEC-80D3-DC69BAC9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ส่วนสูง น้ำหนัก BMI และรอบเอว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E97A7-3DBE-41C7-8621-A8837338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8135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CB13A-D7A7-43ED-92F6-DD19A0D1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81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สัญญาณชีพ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BC462-E318-400D-93E9-024037DF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813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ความดัน ชีพจร และระดับน้ำตาลปลายนิ้ว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1B952-CBD1-48B7-A6E3-DFDAF7BD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8145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6728D-1CA9-4773-9686-22E966C0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พฤติกรรม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9E945-5782-4760-9424-7EB6267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814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บุหรี่ แอลกอฮอล์ อาหาร และการออกกำลังกาย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AE0CE-6472-423A-B1DD-ACBF11FD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7FCFB-5379-4C87-994C-1C794060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81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บริบทหน้างาน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56751-43DA-4524-B63D-494392AC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815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พิกัด คำแนะนำ และเหตุผลเมื่อข้ามเคส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8F373-B182-495C-B040-0FE0944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57850"/>
            <a:ext cx="5381625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4EEBC-0AF7-44A3-96BA-3EE28A41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197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07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ช่วยลดการสลับหน้าจอและลดข้อมูลที่ตกหล่นระหว่างลงพื้นที่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148662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21AFD-5096-480D-91EA-84C76C21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FRONTLINE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3E3C0-4689-460C-A412-D62AEEF8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งานไม่หลุด แม้คนไม่อยู่หรือสัญญาณขาด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76A2E-5B4F-4178-8312-40526481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3EA1E-3C73-411F-93F8-2C74BD5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1423D-11EA-4685-951E-B02DDEA4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946DA-7CB0-40CA-8DA2-9B8E5B6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1B2B0-8000-4D2B-86F3-84C2D020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621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งานค้าง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C8ED6-54B3-46A6-8FA8-4F6D12F4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เห็นงานค้างชัดเจน</a:t>
            </a:r>
          </a:p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แยกจากงานที่จบแล้ว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8857F-7FA8-42EE-AE5F-B73BAEF0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79121-ACF1-4A9E-B76F-C648990F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B9363-22D6-40FF-96EE-3E5EA9E4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5662A-78AB-4A79-AC1D-FC90A97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621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ข้ามพร้อมเหตุผล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083E1-5DAC-4233-B3F3-F36B13CF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ระบุเหตุผลและพักเคส</a:t>
            </a:r>
          </a:p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ไว้ติดตามต่อ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2B5A1-0656-4E31-B4DA-B1CAAA0B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301AF-9AE4-490A-8F73-EC4AD62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319BF-8731-462A-9F27-3DE274FA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6FBAF-FDB2-427F-A794-18D5884C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ออฟไลน์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8FD95-D189-4F4A-8616-2577C407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บันทึกไว้ในเครื่อง</a:t>
            </a:r>
          </a:p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ส่งเมื่อกลับมาออนไลน์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3830B-E849-4EC0-9C26-D249520E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52625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057C7-271E-435B-AD14-B1AB41BB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526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118EA-5F4B-4A84-887D-A7F10D0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35341-571D-4F53-9A55-435F500B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ติดตามต่อ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01242-2F03-4864-A617-C50B02DA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6225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คัดกรองซ้ำหลายรอบ</a:t>
            </a:r>
          </a:p>
          <a:p xmlns:a="http://schemas.openxmlformats.org/drawingml/2006/main">
            <a:pPr algn="l">
              <a:def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รวมถึงงาน DPAC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C227A-DD6B-486C-8824-7D6B2977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53726-710B-43CB-9EF8-3ABE180A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แรงจูงใจที่มองเห็นได้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4D4D3-3111-4377-9B35-B5C00E0E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29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บันทึกผลงานเป็นคะแนนสะสม และดูอันดับบน Leaderboard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70AC30-86AA-42FC-94EA-D85C75E3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768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แต้มผูกกับงานคัดกรอง งานติดตาม DPAC และแบบสำรวจตามเงื่อนไขของระบบ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251417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A2228-8D3A-4B09-81C1-4959B5DE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BACK OFFICE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64F0E-4AF3-4850-87BA-C4474BD4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หลังบ้านเห็นภาพเดียวกันทั้งพื้นที่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718EA-F9E5-49D5-835A-1C461170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A5EB5-BE71-4512-8BE9-B4AB2614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6858000" cy="476250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04989bad44e28"/>
          <a:stretch xmlns:a="http://schemas.openxmlformats.org/drawingml/2006/main"/>
        </p:blipFill>
        <p:spPr>
          <a:xfrm xmlns:a="http://schemas.openxmlformats.org/drawingml/2006/main">
            <a:off x="1828800" y="1743075"/>
            <a:ext cx="4572000" cy="4572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A81D0-708B-412F-81C4-8495EFBD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สิ่งที่เห็นได้ทันที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0A7FA-8243-4B24-9D6A-1C70DBA3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A76B9-5655-40E4-8CE3-C9CDB46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B12B6-2EF9-4B1B-8D94-18FF589F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ความครอบคลุม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3F402-ECB1-4861-9BD2-A8F097EE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เป้าหมาย มอบหมายแล้ว และคัดกรองเสร็จ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9E424-9E29-4666-B5B9-96652E7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B8487-C824-4D86-A732-89007B86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9B29E-01E5-4C58-ABFB-DF963829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76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ระดับความเสี่ยง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77F92-0DD8-4E19-9C07-CF5D5A53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แยกกลุ่มโรคและความรุนแรงของผลคัดกรอง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A2F29-3A5A-4B0E-8A5F-CBE328F3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B9B75-4A49-436E-A268-19738B61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F5CCF-62BC-4250-9ED9-2ED7D62E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9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ความคืบหน้ารายพื้นที่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5E669-5C6C-48EC-A680-3F3C0772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14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เปรียบเทียบหมู่บ้านหรือหน่วยบริการ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B1BE4-8A22-45E1-89D9-A6E0385E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6D386-4937-499F-8E81-699CC163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3EB14-D80A-482E-802D-9EBF31F8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05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แนวโน้มล่าสุด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587A0-FEA1-4A5D-8FD0-D4B767CB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292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ติดตามผลงานรายวันและการคัดกรองซ้ำ</a:t>
            </a:r>
          </a:p>
        </p:txBody>
      </p:sp>
    </p:spTree>
    <p:extLst>
      <p:ext uri="{BB962C8B-B14F-4D97-AF65-F5344CB8AC3E}">
        <p14:creationId xmlns:p14="http://schemas.microsoft.com/office/powerpoint/2010/main" val="1823236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2F6041-422B-4EF3-BB1F-80D32E06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BACK OFFICE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A25C8-BF6F-4832-BC0F-917F64E2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ข้อมูลไหลต่อเนื่อง ตั้งแต่นำเข้าถึงมอบหมาย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4936B-45D4-4644-805F-E0A59EE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26ED4-C33C-4B21-B55E-BA7AE7E1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28950"/>
            <a:ext cx="304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6F6E9-5F3C-4C8D-A04B-4FA3AE25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33700"/>
            <a:ext cx="133350" cy="2476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F2D9B-00E3-4BE9-90AD-EBE4FC59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28950"/>
            <a:ext cx="304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DAECF-A698-41AB-97B5-93020D5E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33350" cy="2476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C8D50-92EF-41A1-A481-FF400F5D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304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8E13C-8A3E-4BE4-B144-A6EDDB73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33700"/>
            <a:ext cx="133350" cy="2476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1C70A-1DA8-41D5-B60D-BF2D0406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304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F1856-4672-4255-9F76-E715F9CB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33700"/>
            <a:ext cx="133350" cy="2476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8785C-BBFA-4DCE-AD79-A4FCB92C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304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E3FC5-442A-4F7F-97B7-F0A8A899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33700"/>
            <a:ext cx="133350" cy="2476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303D1-ADCF-4B0B-8E17-679BB0DC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5240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CFA38-9EAC-4DB2-9E0C-B1D9FA0C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22646-9E8A-404A-99D0-BE4C2E9E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นำเข้า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055DD-CF6D-4708-9B1C-5BF7D230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HDC / JHCIS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C7E91-2BF8-4B7F-93C5-176A5AA0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5240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F84CC-AF16-494D-BF16-D1F40DAC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5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C504B-0A80-406B-9998-9FFA15D0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33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พักข้อมูล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F3462-F4AC-4CCC-8461-8415B365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Staging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493B1-3881-48DA-8A93-E7497AC0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5240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23B8F-45ED-412E-9CD7-2653B9F6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03154-3939-43A8-8EEA-BF8D113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5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ตรวจและ</a:t>
            </a:r>
          </a:p>
          <a:p xmlns:a="http://schemas.openxmlformats.org/drawingml/2006/main">
            <a:pPr algn="ctr">
              <a:def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จัดกลุ่ม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6DD10-6094-4DB2-9E81-FCD24D4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ซ้ำซ้อน / สถานะโรค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3CC2A-3DAF-4A6D-8A43-4A75E8C0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15240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FB5DD-CE0E-47BD-B1C8-63BAF103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4E38C-BEB2-4E1A-AD69-E4CAC08F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5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สร้าง</a:t>
            </a:r>
          </a:p>
          <a:p xmlns:a="http://schemas.openxmlformats.org/drawingml/2006/main">
            <a:pPr algn="ctr">
              <a:def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เป้าหมาย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BC8298-B63A-4B80-A268-509B2263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21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DM • HT • DM+HT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A83622-657E-43C9-B5AF-C53473A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5240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45558-25D3-447E-8500-C075FE2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3946B-1BCA-482C-917D-0659FF69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3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B4F17-2F9E-4389-BC28-A375F958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อสม. / รอบงาน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40E63-E285-496E-9FC8-D491CAF6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5240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01D2E9-4AD9-4BF9-A480-16A5E94A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C6D724-192E-4E85-8652-1D50AB10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33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4E1A3A-C14E-4EA5-A15B-838BA089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71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44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Dashboard / DPAC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ABFF17-6490-46F3-B87A-1CE9678B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3D9007-6B9E-4FF8-A6B3-2A70AABC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กติกาเป้าหมายอยู่ในระบบเดียว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7CA6C9-86F6-48A5-9C0C-2ACE6849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10125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ผู้ป่วยเดิมไม่ถูกส่งคัดกรองซ้ำโดยไม่จำเป็น และงานค้างยังเชื่อมกับบุคคลเดิมเมื่อมีการควบรวมข้อมูลซ้ำ</a:t>
            </a:r>
          </a:p>
        </p:txBody>
      </p:sp>
    </p:spTree>
    <p:extLst>
      <p:ext uri="{BB962C8B-B14F-4D97-AF65-F5344CB8AC3E}">
        <p14:creationId xmlns:p14="http://schemas.microsoft.com/office/powerpoint/2010/main" val="713701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F7FDD-352A-4D04-BB1E-3756213D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SPATIAL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B1ADD-C940-4AD4-A8FF-4B2F7518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แผนที่เปลี่ยนข้อมูลเป็นแผนลงพื้นที่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3910E-6B4B-4E94-8419-28746D47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58C27-DE48-406D-9900-29E669EC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กรองตามระดับความเสี่ยง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B3750-C78C-43C0-A644-54FCC7DC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แยกจุดปกติ เสี่ยงปานกลาง และเสี่ยงสูง เพื่อเลือกพื้นที่ติดตาม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FBC8E-515D-4FC1-A77B-589800D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C2659-ABF9-46DE-B372-BAF06475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เห็นหน่วยบริการที่รับผิดชอบ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6CB29-259F-43D8-9088-C7A96C2A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สลับมุมมองระดับอำเภอและ รพ.สต. พร้อมแก้ไขพิกัดบ้านจากหลังบ้าน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B9B78-C2C5-4D2C-986B-ADE3AC71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0005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13B6A-D1BC-4D7A-9F6C-971DEC36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ผลลัพธ์: วางแผนลงพื้นที่จากจุดจริง ไม่ใช่จากรายชื่ออย่างเดียว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557a87cb648d0"/>
          <a:stretch xmlns:a="http://schemas.openxmlformats.org/drawingml/2006/main"/>
        </p:blipFill>
        <p:spPr>
          <a:xfrm xmlns:a="http://schemas.openxmlformats.org/drawingml/2006/main">
            <a:off x="5929313" y="1647825"/>
            <a:ext cx="4762500" cy="476250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046057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EC963-B11D-44F3-A822-E562923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DCDE6-AD29-4680-836F-996F50FE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0F2747"/>
                </a:solidFill>
                <a:latin typeface="Leelawadee UI"/>
                <a:ea typeface="Leelawadee UI"/>
                <a:cs typeface="Leelawadee UI"/>
              </a:rPr>
              <a:t>โหมดทดสอบแยกจากงานจริง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BAAA9-9D83-4052-A64C-796D49B9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1F4D5-D853-4A96-B313-44C1B260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067300" cy="3981450"/>
          </a:xfrm>
          <a:prstGeom xmlns:a="http://schemas.openxmlformats.org/drawingml/2006/main" prst="roundRect">
            <a:avLst>
              <a:gd name="adj" fmla="val 6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5AAB7-0BFA-4281-8AFE-0B7E1FBF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5067300" cy="3981450"/>
          </a:xfrm>
          <a:prstGeom xmlns:a="http://schemas.openxmlformats.org/drawingml/2006/main" prst="roundRect">
            <a:avLst>
              <a:gd name="adj" fmla="val 6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99EDD-D88F-4237-B927-A2F3B252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Visitor / Sandbox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84955-031C-4CEF-B70B-052ECDB2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ใช้สำหรับสาธิตและทดสอบ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92046-34DE-4B39-A7CE-A7CFE4A6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68B2F-CCF8-4978-A0AE-59C0CBB5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F3F43-92B5-497E-BCB7-EFC619D5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ปกปิดชื่อ เลขบัตร และเบอร์โทรในโหมด Visitor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8A2F4-E750-4513-A837-63EA93D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227B9-9EF9-4CF0-8762-21EB3A07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058CB-5B96-4C9A-8011-AEC5EBF1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Visitor อ่านข้อมูลได้ แต่ไม่เพิ่ม แก้ไข หรือลบ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3A4BD-8BBE-438D-A14C-FCE8650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F1AE0-20A8-4F15-9CCC-76437F7A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F9D8A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E1A37-473F-4F44-A129-ACC7BAE9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ข้อมูล Sandbox แยกด้วยสถานะเฉพาะและล้างคืนได้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D46FA-16DB-4008-B165-3ABC4C5A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574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1DBE3-C1D1-467B-92A8-09A0F9D2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งานจริงมีขอบเขตสิทธิ์และร่องรอย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53E4B-4B36-413C-85BF-D881A6D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58EB1-9F36-42C3-B6A7-48159F1D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3ED51-7850-4929-A4A2-843AA8FA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051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แยกบทบาทเจ้าหน้าที่และ อสม. พร้อมขั้นตอนอนุมัติ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7C138-FF44-4E58-AB1B-B14CA656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05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56C62-D586-4C85-8095-85FF81D0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05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DC85A-027E-4002-ACB6-DE292580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671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บันทึกเหตุการณ์สแกนและพิกัดที่ผิดปกติ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7DC48-913A-4E29-8169-647CBF26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423E8-1133-4C7E-A7EA-41D4C2EB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2563EB"/>
                </a:solidFill>
                <a:latin typeface="Leelawadee UI"/>
                <a:ea typeface="Leelawadee UI"/>
                <a:cs typeface="Leelawadee UI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B2D36-88E8-462A-84BD-C928422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291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32238"/>
                </a:solidFill>
                <a:latin typeface="Leelawadee UI"/>
                <a:ea typeface="Leelawadee UI"/>
                <a:cs typeface="Leelawadee UI"/>
              </a:rPr>
              <a:t>คุมความซ้ำซ้อนของงาน ผลคัดกรอง และคะแนน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A4FC4C-0A76-492E-AF0A-B83DBA1A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F7187"/>
                </a:solidFill>
                <a:latin typeface="Leelawadee UI"/>
                <a:ea typeface="Leelawadee UI"/>
                <a:cs typeface="Leelawadee UI"/>
              </a:rPr>
              <a:t>ข้อมูลสุขภาพยังต้องบริหารตามนโยบายและมาตรการของหน่วยงานที่นำระบบไปใช้</a:t>
            </a:r>
          </a:p>
        </p:txBody>
      </p:sp>
    </p:spTree>
    <p:extLst>
      <p:ext uri="{BB962C8B-B14F-4D97-AF65-F5344CB8AC3E}">
        <p14:creationId xmlns:p14="http://schemas.microsoft.com/office/powerpoint/2010/main" val="1809477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1EFFE-D5AA-4F5F-99A2-8770458C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C5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8EC5FF"/>
                </a:solidFill>
                <a:latin typeface="Leelawadee UI"/>
                <a:ea typeface="Leelawadee UI"/>
                <a:cs typeface="Leelawadee UI"/>
              </a:rPr>
              <a:t>SIMPLE &amp; EASY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13D93-0435-4E74-A97A-317782D5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หนึ่งระบบ จากหน้าบ้านถึงการตัดสินใจ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EDF0E-63A1-4A26-B2BD-622CCE2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BE2B9-F703-4125-9C24-92B3288B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EEAD4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5EEAD4"/>
                </a:solidFill>
                <a:latin typeface="Leelawadee UI"/>
                <a:ea typeface="Leelawadee UI"/>
                <a:cs typeface="Leelawadee UI"/>
              </a:rPr>
              <a:t>หน้าบ้าน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2CE9C-DD46-495F-A777-D885978D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สแกน • คัดกรอง • บันทึก • ติดตาม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81F65-BF05-40CC-986B-A4E09584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8DA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B9C8DA"/>
                </a:solidFill>
                <a:latin typeface="Leelawadee UI"/>
                <a:ea typeface="Leelawadee UI"/>
                <a:cs typeface="Leelawadee UI"/>
              </a:rPr>
              <a:t>ทำงานต่อได้ทั้งออนไลน์และออฟไลน์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68874-A9B4-4323-8ADC-5B8410D3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C5FF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8EC5FF"/>
                </a:solidFill>
                <a:latin typeface="Leelawadee UI"/>
                <a:ea typeface="Leelawadee UI"/>
                <a:cs typeface="Leelawadee UI"/>
              </a:rPr>
              <a:t>หลังบ้าน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57B77-CA65-437E-9FD4-0E36B9A5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นำเข้า • มอบหมาย • วิเคราะห์ • วางแผน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CCDE5-CD60-4512-8A53-150ADA20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8DA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B9C8DA"/>
                </a:solidFill>
                <a:latin typeface="Leelawadee UI"/>
                <a:ea typeface="Leelawadee UI"/>
                <a:cs typeface="Leelawadee UI"/>
              </a:rPr>
              <a:t>เห็นข้อมูลรายคน รายพื้นที่ และภาพรวมอำเภอ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CCBB6-2660-4B67-8B43-BCAB2B44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3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49548-88C7-4C47-A01B-CAF189A3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EC5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8EC5FF"/>
                </a:solidFill>
                <a:latin typeface="Leelawadee UI"/>
                <a:ea typeface="Leelawadee UI"/>
                <a:cs typeface="Leelawadee UI"/>
              </a:rPr>
              <a:t>เส้นทางสาธิตที่แนะนำ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68F24-9533-471B-BF86-B85E1D5B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01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สแกน QR  →  คัดกรอง  →  ส่งงาน  →  เปิด Dashboard และแผนที่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B18D6-1AED-468C-8417-7A11C472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FA6C0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8FA6C0"/>
                </a:solidFill>
                <a:latin typeface="Leelawadee UI"/>
                <a:ea typeface="Leelawadee UI"/>
                <a:cs typeface="Leelawadee UI"/>
              </a:rPr>
              <a:t>NCD Portal ตาลสุม • โปรแกรมต้นแบบสำหรับกระบวนการคัดกรองและติดตาม NCDs ปี 2026</a:t>
            </a:r>
          </a:p>
        </p:txBody>
      </p:sp>
    </p:spTree>
    <p:extLst>
      <p:ext uri="{BB962C8B-B14F-4D97-AF65-F5344CB8AC3E}">
        <p14:creationId xmlns:p14="http://schemas.microsoft.com/office/powerpoint/2010/main" val="142576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2026-08-19T12:36:09.8380000Z</dcterms:created>
  <dcterms:modified xsi:type="dcterms:W3CDTF">2026-08-19T12:36:09.8380000Z</dcterms:modified>
</coreProperties>
</file>