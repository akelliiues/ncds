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0e79329afa4691" /><Relationship Type="http://schemas.openxmlformats.org/officeDocument/2006/relationships/extended-properties" Target="/docProps/app.xml" Id="R57b44387ceab4b84" /><Relationship Type="http://schemas.openxmlformats.org/officeDocument/2006/relationships/officeDocument" Target="/ppt/presentation.xml" Id="Ra62bd91974b04d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b04c88a0c84c2a"/>
  </p:sldMasterIdLst>
  <p:notesMasterIdLst>
    <p:notesMasterId xmlns:r="http://schemas.openxmlformats.org/officeDocument/2006/relationships" r:id="Ra5edbfd9f5104111"/>
  </p:notesMasterIdLst>
  <p:sldIdLst>
    <p:sldId xmlns:r="http://schemas.openxmlformats.org/officeDocument/2006/relationships" id="256" r:id="Rbc73bce83e744baa"/>
    <p:sldId xmlns:r="http://schemas.openxmlformats.org/officeDocument/2006/relationships" id="257" r:id="R93ddc98496a54e0c"/>
    <p:sldId xmlns:r="http://schemas.openxmlformats.org/officeDocument/2006/relationships" id="258" r:id="Rab7d23c0149544f3"/>
    <p:sldId xmlns:r="http://schemas.openxmlformats.org/officeDocument/2006/relationships" id="259" r:id="R7aee96c2b954454e"/>
    <p:sldId xmlns:r="http://schemas.openxmlformats.org/officeDocument/2006/relationships" id="260" r:id="Rb3f158f9617b40dd"/>
    <p:sldId xmlns:r="http://schemas.openxmlformats.org/officeDocument/2006/relationships" id="261" r:id="R049c65c8cf424b48"/>
    <p:sldId xmlns:r="http://schemas.openxmlformats.org/officeDocument/2006/relationships" id="262" r:id="Rd70b68d2a7164088"/>
    <p:sldId xmlns:r="http://schemas.openxmlformats.org/officeDocument/2006/relationships" id="263" r:id="Rf5646b8048a043e7"/>
    <p:sldId xmlns:r="http://schemas.openxmlformats.org/officeDocument/2006/relationships" id="264" r:id="R3923480144ab4508"/>
    <p:sldId xmlns:r="http://schemas.openxmlformats.org/officeDocument/2006/relationships" id="265" r:id="Ra102622f86c346a2"/>
    <p:sldId xmlns:r="http://schemas.openxmlformats.org/officeDocument/2006/relationships" id="266" r:id="R5811a02887744103"/>
    <p:sldId xmlns:r="http://schemas.openxmlformats.org/officeDocument/2006/relationships" id="267" r:id="R46e581723b474d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c5eaaba18d4596" /><Relationship Type="http://schemas.openxmlformats.org/officeDocument/2006/relationships/slideMaster" Target="/ppt/slideMasters/slideMaster1.xml" Id="R4eb04c88a0c84c2a" /><Relationship Type="http://schemas.openxmlformats.org/officeDocument/2006/relationships/notesMaster" Target="/ppt/notesMasters/notesMaster1.xml" Id="Ra5edbfd9f5104111" /><Relationship Type="http://schemas.openxmlformats.org/officeDocument/2006/relationships/presProps" Target="/ppt/presProps.xml" Id="R5114662a7dca47dd" /><Relationship Type="http://schemas.openxmlformats.org/officeDocument/2006/relationships/tableStyles" Target="/ppt/tableStyles.xml" Id="R93c9d12db66e4541" /><Relationship Type="http://schemas.openxmlformats.org/officeDocument/2006/relationships/slide" Target="/ppt/slides/slide1.xml" Id="Rbc73bce83e744baa" /><Relationship Type="http://schemas.openxmlformats.org/officeDocument/2006/relationships/slide" Target="/ppt/slides/slide2.xml" Id="R93ddc98496a54e0c" /><Relationship Type="http://schemas.openxmlformats.org/officeDocument/2006/relationships/slide" Target="/ppt/slides/slide3.xml" Id="Rab7d23c0149544f3" /><Relationship Type="http://schemas.openxmlformats.org/officeDocument/2006/relationships/slide" Target="/ppt/slides/slide4.xml" Id="R7aee96c2b954454e" /><Relationship Type="http://schemas.openxmlformats.org/officeDocument/2006/relationships/slide" Target="/ppt/slides/slide5.xml" Id="Rb3f158f9617b40dd" /><Relationship Type="http://schemas.openxmlformats.org/officeDocument/2006/relationships/slide" Target="/ppt/slides/slide6.xml" Id="R049c65c8cf424b48" /><Relationship Type="http://schemas.openxmlformats.org/officeDocument/2006/relationships/slide" Target="/ppt/slides/slide7.xml" Id="Rd70b68d2a7164088" /><Relationship Type="http://schemas.openxmlformats.org/officeDocument/2006/relationships/slide" Target="/ppt/slides/slide8.xml" Id="Rf5646b8048a043e7" /><Relationship Type="http://schemas.openxmlformats.org/officeDocument/2006/relationships/slide" Target="/ppt/slides/slide9.xml" Id="R3923480144ab4508" /><Relationship Type="http://schemas.openxmlformats.org/officeDocument/2006/relationships/slide" Target="/ppt/slides/slide10.xml" Id="Ra102622f86c346a2" /><Relationship Type="http://schemas.openxmlformats.org/officeDocument/2006/relationships/slide" Target="/ppt/slides/slide11.xml" Id="R5811a02887744103" /><Relationship Type="http://schemas.openxmlformats.org/officeDocument/2006/relationships/slide" Target="/ppt/slides/slide12.xml" Id="R46e581723b474d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48bd83355f46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9ff0b74af948cd" /><Relationship Type="http://schemas.openxmlformats.org/officeDocument/2006/relationships/notesMaster" Target="/ppt/notesMasters/notesMaster1.xml" Id="R4fc8a348de404a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b07ac7e4344251" /><Relationship Type="http://schemas.openxmlformats.org/officeDocument/2006/relationships/notesMaster" Target="/ppt/notesMasters/notesMaster1.xml" Id="R825b11120c494c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5346fbe1af4ebf" /><Relationship Type="http://schemas.openxmlformats.org/officeDocument/2006/relationships/notesMaster" Target="/ppt/notesMasters/notesMaster1.xml" Id="R3f231af17d8d4b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3d2e96d6c04d19" /><Relationship Type="http://schemas.openxmlformats.org/officeDocument/2006/relationships/notesMaster" Target="/ppt/notesMasters/notesMaster1.xml" Id="Rbaa66c89835647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b0668b62984ad2" /><Relationship Type="http://schemas.openxmlformats.org/officeDocument/2006/relationships/notesMaster" Target="/ppt/notesMasters/notesMaster1.xml" Id="R7ef6eaf522a24b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800186276140fe" /><Relationship Type="http://schemas.openxmlformats.org/officeDocument/2006/relationships/notesMaster" Target="/ppt/notesMasters/notesMaster1.xml" Id="R19e1d5a5e46b4a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90bd1541394bf2" /><Relationship Type="http://schemas.openxmlformats.org/officeDocument/2006/relationships/notesMaster" Target="/ppt/notesMasters/notesMaster1.xml" Id="R08813ae7927b47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bb152907094464" /><Relationship Type="http://schemas.openxmlformats.org/officeDocument/2006/relationships/notesMaster" Target="/ppt/notesMasters/notesMaster1.xml" Id="Re67882e9a71046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8395b85acd45d2" /><Relationship Type="http://schemas.openxmlformats.org/officeDocument/2006/relationships/notesMaster" Target="/ppt/notesMasters/notesMaster1.xml" Id="Re3d42a806dc644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98b291185f4ca8" /><Relationship Type="http://schemas.openxmlformats.org/officeDocument/2006/relationships/notesMaster" Target="/ppt/notesMasters/notesMaster1.xml" Id="Ref8d54a7050b48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482b7d38744002" /><Relationship Type="http://schemas.openxmlformats.org/officeDocument/2006/relationships/notesMaster" Target="/ppt/notesMasters/notesMaster1.xml" Id="Rc951a924bc6747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ac76d64e63449d" /><Relationship Type="http://schemas.openxmlformats.org/officeDocument/2006/relationships/notesMaster" Target="/ppt/notesMasters/notesMaster1.xml" Id="Rbc0e4f18ecba43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ภาพพื้นหลังสร้างสำหรับงานนี้ด้วย ImageGen</a:t>
            </a:r>
          </a:p>
          <a:p xmlns:a="http://schemas.openxmlformats.org/drawingml/2006/main">
            <a:r>
              <a:t>- ตราสัญลักษณ์: assets/icon.png</a:t>
            </a:r>
          </a:p>
          <a:p xmlns:a="http://schemas.openxmlformats.org/drawingml/2006/main">
            <a:r>
              <a:t>- เครดิตผู้พัฒนา: about.php และ config/dev_modal.php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แนวทางภาพ: D:/_Downloads/Next_Gen_NCD_Portal.pdf</a:t>
            </a:r>
          </a:p>
          <a:p xmlns:a="http://schemas.openxmlformats.org/drawingml/2006/main">
            <a:r>
              <a:t>- ฟีเจอร์จริง: vhv/scan.php, vhv/screening_form.php, admin/index.php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บทบาทระบบ: index.php, admin/navbar.php, vhv/index.php</a:t>
            </a:r>
          </a:p>
          <a:p xmlns:a="http://schemas.openxmlformats.org/drawingml/2006/main">
            <a:r>
              <a:t>- แนวทางภาพ: D:/_Downloads/Next_Gen_NCD_Portal.pdf หน้า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สแกนและตรวจสิทธิ์: vhv/scan.php, api/check_qrcode.php</a:t>
            </a:r>
          </a:p>
          <a:p xmlns:a="http://schemas.openxmlformats.org/drawingml/2006/main">
            <a:r>
              <a:t>- บันทึกพิกัด: api/save_screening.php</a:t>
            </a:r>
          </a:p>
          <a:p xmlns:a="http://schemas.openxmlformats.org/drawingml/2006/main">
            <a:r>
              <a:t>- ภาพประกอบ: assets/img/vhv_screening_mockup.png (mockup)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ฟอร์มและข้อมูลที่จัดเก็บ: vhv/screening_form.php</a:t>
            </a:r>
          </a:p>
          <a:p xmlns:a="http://schemas.openxmlformats.org/drawingml/2006/main">
            <a:r>
              <a:t>- แนวคิดการแตะใช้งาน: manual.php และ vhv/manual.php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งานค้าง/ข้าม/DPAC: vhv/index.php, vhv/dpac_form.php</a:t>
            </a:r>
          </a:p>
          <a:p xmlns:a="http://schemas.openxmlformats.org/drawingml/2006/main">
            <a:r>
              <a:t>- ออฟไลน์: vhv/service-worker.js, assets/js/app.js</a:t>
            </a:r>
          </a:p>
          <a:p xmlns:a="http://schemas.openxmlformats.org/drawingml/2006/main">
            <a:r>
              <a:t>- คะแนน: api/get_vhv_rewards.php, vhv/leaderboard.php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แดชบอร์ด: admin/index.php</a:t>
            </a:r>
          </a:p>
          <a:p xmlns:a="http://schemas.openxmlformats.org/drawingml/2006/main">
            <a:r>
              <a:t>- การวิเคราะห์: admin/analytics.php</a:t>
            </a:r>
          </a:p>
          <a:p xmlns:a="http://schemas.openxmlformats.org/drawingml/2006/main">
            <a:r>
              <a:t>- ภาพประกอบ: assets/img/admin_dashboard_mockup.png (mockup)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นำเข้าและ ETL: admin/hdc_import.php, admin/process_etl.php</a:t>
            </a:r>
          </a:p>
          <a:p xmlns:a="http://schemas.openxmlformats.org/drawingml/2006/main">
            <a:r>
              <a:t>- เป้าหมายและมอบหมาย: admin/target_manager.php, admin/assignment.php</a:t>
            </a:r>
          </a:p>
          <a:p xmlns:a="http://schemas.openxmlformats.org/drawingml/2006/main">
            <a:r>
              <a:t>- การควบรวมข้อมูล: config/db.php, admin/clean_db.php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แผนที่และตัวกรอง: admin/index.php</a:t>
            </a:r>
          </a:p>
          <a:p xmlns:a="http://schemas.openxmlformats.org/drawingml/2006/main">
            <a:r>
              <a:t>- แก้ไขพิกัด: api/update_coordinates.php</a:t>
            </a:r>
          </a:p>
          <a:p xmlns:a="http://schemas.openxmlformats.org/drawingml/2006/main">
            <a:r>
              <a:t>- ภาพประกอบ: assets/img/district_map_mockup.png (mockup)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Visitor masking และ read-only: config/db.php</a:t>
            </a:r>
          </a:p>
          <a:p xmlns:a="http://schemas.openxmlformats.org/drawingml/2006/main">
            <a:r>
              <a:t>- Sandbox: api/toggle_sandbox.php, api/admin_db.php</a:t>
            </a:r>
          </a:p>
          <a:p xmlns:a="http://schemas.openxmlformats.org/drawingml/2006/main">
            <a:r>
              <a:t>- สิทธิ์และบันทึกเหตุการณ์: index.php, admin/vhv_approval.php, admin/security_log.php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เครดิตและตำแหน่ง: about.php, config/dev_modal.php</a:t>
            </a:r>
          </a:p>
          <a:p xmlns:a="http://schemas.openxmlformats.org/drawingml/2006/main">
            <a:r>
              <a:t>- ภาพบุคคล: assets/developer.jpg</a:t>
            </a:r>
          </a:p>
          <a:p xmlns:a="http://schemas.openxmlformats.org/drawingml/2006/main">
            <a:r>
              <a:t>- เวอร์ชันระบบ: 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ภาพพื้นหลังสร้างสำหรับงานนี้ด้วย ImageGen</a:t>
            </a:r>
          </a:p>
          <a:p xmlns:a="http://schemas.openxmlformats.org/drawingml/2006/main">
            <a:r>
              <a:t>- เส้นทางสาธิต: vhv/scan.php → vhv/screening_form.php → api/save_screening.php → admin/index.php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5605d4c5824b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104fe4fcc545f4" /><Relationship Type="http://schemas.openxmlformats.org/officeDocument/2006/relationships/slideLayout" Target="/ppt/slideLayouts/slideLayout1.xml" Id="R58a6d23f990840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a6d23f990840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1e485a40c453e" /><Relationship Type="http://schemas.openxmlformats.org/officeDocument/2006/relationships/image" Target="/ppt/media/image.png" Id="Rbe9ec504858244f7" /><Relationship Type="http://schemas.openxmlformats.org/officeDocument/2006/relationships/image" Target="/ppt/media/image2.png" Id="Rb6cd119cf630432d" /><Relationship Type="http://schemas.openxmlformats.org/officeDocument/2006/relationships/notesSlide" Target="/ppt/notesSlides/notesSlide1.xml" Id="R97d9aa1bf0014d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102a17c144c22" /><Relationship Type="http://schemas.openxmlformats.org/officeDocument/2006/relationships/notesSlide" Target="/ppt/notesSlides/notesSlide2.xml" Id="Rf9274b9d33fc42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b6b0c9a6d4460" /><Relationship Type="http://schemas.openxmlformats.org/officeDocument/2006/relationships/notesSlide" Target="/ppt/notesSlides/notesSlide3.xml" Id="Ra8a19caf851348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8e98615be47f2" /><Relationship Type="http://schemas.openxmlformats.org/officeDocument/2006/relationships/image" Target="/ppt/media/image.jpeg" Id="R98dfec41b6794531" /><Relationship Type="http://schemas.openxmlformats.org/officeDocument/2006/relationships/notesSlide" Target="/ppt/notesSlides/notesSlide4.xml" Id="R4975bf95e9fd49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9f147c7ca4e68" /><Relationship Type="http://schemas.openxmlformats.org/officeDocument/2006/relationships/notesSlide" Target="/ppt/notesSlides/notesSlide5.xml" Id="Re03592e913624d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f2cc6be1c4682" /><Relationship Type="http://schemas.openxmlformats.org/officeDocument/2006/relationships/notesSlide" Target="/ppt/notesSlides/notesSlide6.xml" Id="R3df846113fad4a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5ce8163284520" /><Relationship Type="http://schemas.openxmlformats.org/officeDocument/2006/relationships/image" Target="/ppt/media/image2.jpeg" Id="R262ccb9225374662" /><Relationship Type="http://schemas.openxmlformats.org/officeDocument/2006/relationships/notesSlide" Target="/ppt/notesSlides/notesSlide7.xml" Id="R3b54ce37508a42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a3e01a55b4bc6" /><Relationship Type="http://schemas.openxmlformats.org/officeDocument/2006/relationships/notesSlide" Target="/ppt/notesSlides/notesSlide8.xml" Id="Rd2da141aa29c48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1c3cad7c24797" /><Relationship Type="http://schemas.openxmlformats.org/officeDocument/2006/relationships/image" Target="/ppt/media/image3.jpeg" Id="R5bb865a8b4f940e6" /><Relationship Type="http://schemas.openxmlformats.org/officeDocument/2006/relationships/notesSlide" Target="/ppt/notesSlides/notesSlide9.xml" Id="Rb5e014c1479b4c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396a67a47448b" /><Relationship Type="http://schemas.openxmlformats.org/officeDocument/2006/relationships/notesSlide" Target="/ppt/notesSlides/notesSlide10.xml" Id="Rb71623a6e1dc4f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6aafc23574b71" /><Relationship Type="http://schemas.openxmlformats.org/officeDocument/2006/relationships/image" Target="/ppt/media/image4.jpeg" Id="Rf465a2c6538b43a6" /><Relationship Type="http://schemas.openxmlformats.org/officeDocument/2006/relationships/notesSlide" Target="/ppt/notesSlides/notesSlide11.xml" Id="R9007303f47d848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2089cdc7a4d79" /><Relationship Type="http://schemas.openxmlformats.org/officeDocument/2006/relationships/image" Target="/ppt/media/image3.png" Id="R957ce05967934b32" /><Relationship Type="http://schemas.openxmlformats.org/officeDocument/2006/relationships/notesSlide" Target="/ppt/notesSlides/notesSlide12.xml" Id="Rc9d02a463e7e4e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ec504858244f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2E736-B167-43B1-B417-7CA31ED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d119cf630432d"/>
          <a:stretch xmlns:a="http://schemas.openxmlformats.org/drawingml/2006/main"/>
        </p:blipFill>
        <p:spPr>
          <a:xfrm xmlns:a="http://schemas.openxmlformats.org/drawingml/2006/main">
            <a:off x="647700" y="514350"/>
            <a:ext cx="590550" cy="590550"/>
          </a:xfrm>
          <a:prstGeom xmlns:a="http://schemas.openxmlformats.org/drawingml/2006/main" prst="roundRect">
            <a:avLst>
              <a:gd name="adj" fmla="val 2258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87888-6FE6-49F4-AC49-FA22015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7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CF3D8"/>
                </a:solidFill>
                <a:latin typeface="Prompt"/>
                <a:ea typeface="Prompt"/>
                <a:cs typeface="Prompt"/>
              </a:defRPr>
            </a:pPr>
            <a:r>
              <a:rPr sz="1275" b="1">
                <a:solidFill>
                  <a:srgbClr val="9CF3D8"/>
                </a:solidFill>
                <a:latin typeface="Prompt"/>
                <a:ea typeface="Prompt"/>
                <a:cs typeface="Prompt"/>
              </a:rPr>
              <a:t>NCD PORTAL • ตาลสุม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B965F-43CB-4678-B72B-3A84631F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48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Simple at the frontline.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48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Powerful behind the scenes.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9D154-F81C-4EAA-93F2-9EB70545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CF3D8"/>
                </a:solidFill>
                <a:latin typeface="Prompt"/>
                <a:ea typeface="Prompt"/>
                <a:cs typeface="Prompt"/>
              </a:defRPr>
            </a:pPr>
            <a:r>
              <a:rPr sz="2025" b="1">
                <a:solidFill>
                  <a:srgbClr val="9CF3D8"/>
                </a:solidFill>
                <a:latin typeface="Prompt"/>
                <a:ea typeface="Prompt"/>
                <a:cs typeface="Prompt"/>
              </a:rPr>
              <a:t>ซับซ้อนหลังบ้าน แสดงผลเรียบง่ายหน้าบ้าน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D464A-2EA5-4DB0-8D99-DA4BF73A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7D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C7D7DE"/>
                </a:solidFill>
                <a:latin typeface="Noto Sans Thai"/>
                <a:ea typeface="Noto Sans Thai"/>
                <a:cs typeface="Noto Sans Thai"/>
              </a:rPr>
              <a:t>ระบบคัดกรอง ติดตาม และบริหารข้อมูล NCDs</a:t>
            </a:r>
          </a:p>
          <a:p xmlns:a="http://schemas.openxmlformats.org/drawingml/2006/main">
            <a:pPr algn="l">
              <a:defRPr sz="1650" b="0">
                <a:solidFill>
                  <a:srgbClr val="C7D7D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C7D7DE"/>
                </a:solidFill>
                <a:latin typeface="Noto Sans Thai"/>
                <a:ea typeface="Noto Sans Thai"/>
                <a:cs typeface="Noto Sans Thai"/>
              </a:rPr>
              <a:t>สำหรับ อสม. รพ.สต. และสำนักงานสาธารณสุขอำเภอ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F66E3-2763-4B29-80CD-430C2A14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AB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91AAB5"/>
                </a:solidFill>
                <a:latin typeface="Noto Sans Thai"/>
                <a:ea typeface="Noto Sans Thai"/>
                <a:cs typeface="Noto Sans Thai"/>
              </a:rPr>
              <a:t>พัฒนาโดย นายบุญธรรม พันธ์ใหญ่ • นักวิชาการคอมพิวเตอร์ สสอ.ตาลสุม</a:t>
            </a:r>
          </a:p>
        </p:txBody>
      </p:sp>
    </p:spTree>
    <p:extLst>
      <p:ext uri="{BB962C8B-B14F-4D97-AF65-F5344CB8AC3E}">
        <p14:creationId xmlns:p14="http://schemas.microsoft.com/office/powerpoint/2010/main" val="568042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4500A-66DB-42FF-B352-6095385C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DC07B-488D-49AB-B7C0-E5D64F6C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DESIGN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7B58E-DE25-4C0C-B8FB-978A6048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645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Simple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37C79-CF1B-48D2-AF0D-F5BAC4BC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ทำให้งานหน้างาน</a:t>
            </a:r>
          </a:p>
          <a:p xmlns:a="http://schemas.openxmlformats.org/drawingml/2006/main">
            <a:pPr algn="l">
              <a:defRPr sz="2250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เหลือเฉพาะสิ่งที่ต้องทำ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67F77-EC71-467A-8577-D5B7D770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2382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9CF3D8"/>
                </a:solidFill>
                <a:latin typeface="Prompt"/>
                <a:ea typeface="Prompt"/>
                <a:cs typeface="Prompt"/>
              </a:defRPr>
            </a:pPr>
            <a:r>
              <a:rPr sz="6450" b="1">
                <a:solidFill>
                  <a:srgbClr val="9CF3D8"/>
                </a:solidFill>
                <a:latin typeface="Prompt"/>
                <a:ea typeface="Prompt"/>
                <a:cs typeface="Prompt"/>
              </a:rPr>
              <a:t>Easy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F376D-EF4E-4655-A1E5-5EA9569A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ทำให้ข้อมูลหลังบ้าน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ไหลต่อกันโดยไม่เพิ่มภาระ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B2125-E2E2-4D1C-8377-BA608491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47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2E5C4-968F-4104-A603-0D90AC7B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76800"/>
            <a:ext cx="447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52C68-E33E-49F5-9BDF-15EF3666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180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สแกนง่าย • แตะง่าย • ส่งงานง่าย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D9313-73C7-4163-B88A-7729F379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CF3D8"/>
                </a:solidFill>
                <a:latin typeface="Prompt"/>
                <a:ea typeface="Prompt"/>
                <a:cs typeface="Prompt"/>
              </a:defRPr>
            </a:pPr>
            <a:r>
              <a:rPr sz="1800" b="1">
                <a:solidFill>
                  <a:srgbClr val="9CF3D8"/>
                </a:solidFill>
                <a:latin typeface="Prompt"/>
                <a:ea typeface="Prompt"/>
                <a:cs typeface="Prompt"/>
              </a:rPr>
              <a:t>นำเข้าง่าย • มอบหมายง่าย • เห็นภาพง่าย</a:t>
            </a:r>
          </a:p>
        </p:txBody>
      </p:sp>
    </p:spTree>
    <p:extLst>
      <p:ext uri="{BB962C8B-B14F-4D97-AF65-F5344CB8AC3E}">
        <p14:creationId xmlns:p14="http://schemas.microsoft.com/office/powerpoint/2010/main" val="1450694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DC764-4EBC-4556-AD91-5FAF5963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ONE CONNECTED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EF389-3CE0-45C4-8720-91FE4B73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375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สามบทบาท เห็นข้อมูลชุดเดียวกัน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14675-BC9D-403A-A099-27D8191D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49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B67A8-4A16-4E2B-B715-8F0773AE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2286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E8854-E108-4B7D-8970-952A78C3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383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33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อสม.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07947-61AC-4A66-9545-7C291B37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950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ลงพื้นที่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91BA1-728C-427B-BC8E-45380AFB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AD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B9CAD2"/>
                </a:solidFill>
                <a:latin typeface="Noto Sans Thai"/>
                <a:ea typeface="Noto Sans Thai"/>
                <a:cs typeface="Noto Sans Thai"/>
              </a:rPr>
              <a:t>สแกน คัดกรอง ส่งงาน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77F5B-EDDE-4168-8060-AAD887CE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2286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B1C42-324B-44E2-8C39-5A652F9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33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รพ.สต.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276FE-22FF-4D8C-BDAF-100E7DA2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5D8FF"/>
                </a:solidFill>
                <a:latin typeface="Prompt"/>
                <a:ea typeface="Prompt"/>
                <a:cs typeface="Prompt"/>
              </a:defRPr>
            </a:pPr>
            <a:r>
              <a:rPr sz="1950" b="1">
                <a:solidFill>
                  <a:srgbClr val="75D8FF"/>
                </a:solidFill>
                <a:latin typeface="Prompt"/>
                <a:ea typeface="Prompt"/>
                <a:cs typeface="Prompt"/>
              </a:rPr>
              <a:t>ควบคุมงาน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371E7-A08F-4364-83AA-73FA9DEA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AD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B9CAD2"/>
                </a:solidFill>
                <a:latin typeface="Noto Sans Thai"/>
                <a:ea typeface="Noto Sans Thai"/>
                <a:cs typeface="Noto Sans Thai"/>
              </a:rPr>
              <a:t>กำหนดเป้าหมาย มอบหมาย ติดตาม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7D679-0B9C-4EC0-91DA-B809D57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19450"/>
            <a:ext cx="2286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A8A98-D9ED-4101-B288-9E022C18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33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สสอ.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4C211-DA38-44DB-9A2D-4E2AB63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CF3D8"/>
                </a:solidFill>
                <a:latin typeface="Prompt"/>
                <a:ea typeface="Prompt"/>
                <a:cs typeface="Prompt"/>
              </a:defRPr>
            </a:pPr>
            <a:r>
              <a:rPr sz="1950" b="1">
                <a:solidFill>
                  <a:srgbClr val="9CF3D8"/>
                </a:solidFill>
                <a:latin typeface="Prompt"/>
                <a:ea typeface="Prompt"/>
                <a:cs typeface="Prompt"/>
              </a:rPr>
              <a:t>เห็นภาพรวม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D228E-4278-404B-BF8F-E56DF453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AD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B9CAD2"/>
                </a:solidFill>
                <a:latin typeface="Noto Sans Thai"/>
                <a:ea typeface="Noto Sans Thai"/>
                <a:cs typeface="Noto Sans Thai"/>
              </a:rPr>
              <a:t>เปรียบเทียบพื้นที่ วางแผนระดับอำเภอ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DDD3F-0970-4AA7-98D3-607801AA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195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ฐานข้อมูลและสถานะงานเชื่อมกันตั้งแต่รายบุคคลจนถึงภาพรวมอำเภอ</a:t>
            </a:r>
          </a:p>
        </p:txBody>
      </p:sp>
    </p:spTree>
    <p:extLst>
      <p:ext uri="{BB962C8B-B14F-4D97-AF65-F5344CB8AC3E}">
        <p14:creationId xmlns:p14="http://schemas.microsoft.com/office/powerpoint/2010/main" val="1171370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2DA39-D851-465D-A9C0-7F9FAAEE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FRONTLINE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4062E-0098-4B3B-A0D5-C2BD48CF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375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สแกนแล้วเริ่มงานได้ทันที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45AD8-966F-4B17-A34A-C81340D0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QR ประจำบ้านหรือบุคคล</a:t>
            </a:r>
          </a:p>
          <a:p xmlns:a="http://schemas.openxmlformats.org/drawingml/2006/main">
            <a:pPr algn="l">
              <a:defRPr sz="1650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เปิดรายการที่ได้รับมอบหมาย และพาเข้าสู่แบบคัดกรองโดยตรง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3DFC7-103C-4FE9-B597-52BDB5F8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575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8CD96-20C5-4389-8A8C-AF4CAE49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670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06020-8BE8-4B62-B363-4C83B257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242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D3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081D33"/>
                </a:solidFill>
                <a:latin typeface="Noto Sans Thai"/>
                <a:ea typeface="Noto Sans Thai"/>
                <a:cs typeface="Noto Sans Thai"/>
              </a:rPr>
              <a:t>เลือกเฉพาะงานของ อสม. คนนั้น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90522-F6B2-4758-996B-0976F613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575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C51E4-52B9-4E83-B7C7-D004D6E1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481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9AF36-A7F6-43C8-90C3-B39BC436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8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D3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081D33"/>
                </a:solidFill>
                <a:latin typeface="Noto Sans Thai"/>
                <a:ea typeface="Noto Sans Thai"/>
                <a:cs typeface="Noto Sans Thai"/>
              </a:rPr>
              <a:t>ใช้ปุ่มขนาดใหญ่และข้อความตรงไปตรงมา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8269A-B069-4380-A10D-A631091E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575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961E7-F115-4365-AB26-AF4CA21A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291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80B1C-3F1F-4F99-B88C-91910243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D3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081D33"/>
                </a:solidFill>
                <a:latin typeface="Noto Sans Thai"/>
                <a:ea typeface="Noto Sans Thai"/>
                <a:cs typeface="Noto Sans Thai"/>
              </a:rPr>
              <a:t>เก็บพิกัดพร้อมบันทึกเหตุการณ์ผิดปกติ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1310A-D676-48CC-84C2-9AE7DE33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5300"/>
            <a:ext cx="5143500" cy="5867400"/>
          </a:xfrm>
          <a:prstGeom xmlns:a="http://schemas.openxmlformats.org/drawingml/2006/main" prst="roundRect">
            <a:avLst>
              <a:gd name="adj" fmla="val 6296"/>
            </a:avLst>
          </a:prstGeom>
          <a:solidFill xmlns:a="http://schemas.openxmlformats.org/drawingml/2006/main">
            <a:srgbClr val="E7EF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fec41b6794531"/>
          <a:stretch xmlns:a="http://schemas.openxmlformats.org/drawingml/2006/main"/>
        </p:blipFill>
        <p:spPr>
          <a:xfrm xmlns:a="http://schemas.openxmlformats.org/drawingml/2006/main">
            <a:off x="6667500" y="1162050"/>
            <a:ext cx="4533900" cy="453390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</p:spTree>
    <p:extLst>
      <p:ext uri="{BB962C8B-B14F-4D97-AF65-F5344CB8AC3E}">
        <p14:creationId xmlns:p14="http://schemas.microsoft.com/office/powerpoint/2010/main" val="154352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3F8F0-0047-4D16-BA9C-5267C761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ZERO-FRICTION 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7F8C7-4B65-4B28-AC23-44F37038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39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หนึ่งแบบฟอร์ม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39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ครบสิ่งที่ต้องใช้หน้างาน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4870D-230D-4619-AC39-0B24CE23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AD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B9CAD2"/>
                </a:solidFill>
                <a:latin typeface="Noto Sans Thai"/>
                <a:ea typeface="Noto Sans Thai"/>
                <a:cs typeface="Noto Sans Thai"/>
              </a:rPr>
              <a:t>จัดลำดับคำถามตามงานจริง ไม่บังคับให้ผู้ใช้สลับหลายหน้าจอ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A28E1-1F20-4F24-A10E-5CD7DC84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1A8A4-00BE-4F94-B67D-F3A9A45D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350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E3C9C-444E-4BFD-A7B7-710A84F5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2025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ร่างกาย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5D69F-8DB0-4FC6-AA5B-4F36C250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EC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A9BEC7"/>
                </a:solidFill>
                <a:latin typeface="Noto Sans Thai"/>
                <a:ea typeface="Noto Sans Thai"/>
                <a:cs typeface="Noto Sans Thai"/>
              </a:rPr>
              <a:t>ส่วนสูง • น้ำหนัก • BMI • รอบเอว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333C5-5A6E-4B05-8CF0-B89DB713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350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39B17-76F9-4ED7-86B3-9A922C91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2025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สัญญาณชีพ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D6A80-272E-40B1-9D3D-1DB8851A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482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EC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A9BEC7"/>
                </a:solidFill>
                <a:latin typeface="Noto Sans Thai"/>
                <a:ea typeface="Noto Sans Thai"/>
                <a:cs typeface="Noto Sans Thai"/>
              </a:rPr>
              <a:t>ความดัน • ชีพจร • DTX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CAD77-A0A5-4B85-8F2B-1B46E692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350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347B9-DC96-4A62-87DC-0A677CAC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2025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พฤติกรรม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0F979-7AFD-435E-AFB7-DBAD1CEF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482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EC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A9BEC7"/>
                </a:solidFill>
                <a:latin typeface="Noto Sans Thai"/>
                <a:ea typeface="Noto Sans Thai"/>
                <a:cs typeface="Noto Sans Thai"/>
              </a:rPr>
              <a:t>บุหรี่ • แอลกอฮอล์ • อาหาร • การเคลื่อนไหว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2B999-3993-4F11-8ABF-852EBAA9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350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7A125-89A8-4D63-B7FC-64E6115E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4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2025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บริบท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05C81-7D96-43B8-81E8-BC56DF4F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82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EC7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A9BEC7"/>
                </a:solidFill>
                <a:latin typeface="Noto Sans Thai"/>
                <a:ea typeface="Noto Sans Thai"/>
                <a:cs typeface="Noto Sans Thai"/>
              </a:rPr>
              <a:t>GPS • คำแนะนำ • เหตุผลเมื่อข้ามเคส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ABCAE-7651-41C8-944B-57A20558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CF3D8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9CF3D8"/>
                </a:solidFill>
                <a:latin typeface="Prompt"/>
                <a:ea typeface="Prompt"/>
                <a:cs typeface="Prompt"/>
              </a:rPr>
              <a:t>ผลลัพธ์คือข้อมูลครบในจังหวะเดียว และพร้อมส่งต่อหลังบ้าน</a:t>
            </a:r>
          </a:p>
        </p:txBody>
      </p:sp>
    </p:spTree>
    <p:extLst>
      <p:ext uri="{BB962C8B-B14F-4D97-AF65-F5344CB8AC3E}">
        <p14:creationId xmlns:p14="http://schemas.microsoft.com/office/powerpoint/2010/main" val="1349209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E3859-D405-42AC-9E4D-2927B0EE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WORK CONTINUITY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9E426-5EFD-42A9-866A-3E06D8F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375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งานเดินต่อ แม้คนไม่อยู่หรือเน็ตไม่พร้อม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4AF8A-8E42-4D47-8052-4A1DF4EE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10172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FF639-522F-4B6E-AB1D-0056CF52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15B0D-3EA1-4231-87E9-70F540FF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15F0C-88B5-4DB3-BE11-9109EBF1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210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งานค้าง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0E5B0-9F4A-4D01-882A-32201F81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เห็นสิ่งที่ต้องทำ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173DA-4464-49D4-AF1C-F1B3D936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242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B0066-60C1-4BDE-A58F-86FC87E6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24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7C799-2035-4B81-9C5A-E76D6BDD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210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ข้ามพร้อมเหตุผล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B8742-E750-4546-8E2B-6A187D6F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พักเคสไว้ติดตามต่อ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7B455-1D99-45AA-832A-152D4AA6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08E47-C415-4412-A198-F9949C20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C4447-3953-4F0B-9F83-69D48876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210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ออฟไลน์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DCCFC-9997-4B3C-9946-CD4C2B1E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62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บันทึกในเครื่อง รอซิงก์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7D915-367A-43A3-B643-BE549BFA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6ED6B-0A8A-467D-883C-71296FC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165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E8FCA-992A-4568-AD87-8B3081ED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862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210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DPAC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3EB50-4EA1-40A1-BF6E-A97B1420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62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ติดตามซ้ำเป็นรอบ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A2A2C-EE76-4F99-B993-F6BE6EB4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F8764-6D5B-4056-9161-BE18AD42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F3D8"/>
                </a:solidFill>
                <a:latin typeface="Prompt"/>
                <a:ea typeface="Prompt"/>
                <a:cs typeface="Prompt"/>
              </a:defRPr>
            </a:pPr>
            <a:r>
              <a:rPr sz="1875" b="1">
                <a:solidFill>
                  <a:srgbClr val="9CF3D8"/>
                </a:solidFill>
                <a:latin typeface="Prompt"/>
                <a:ea typeface="Prompt"/>
                <a:cs typeface="Prompt"/>
              </a:rPr>
              <a:t>คะแนนสะสม + Leaderboard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88582-8ADE-4315-AD47-A3A5AD6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ผลงานที่ทำสำเร็จมองเห็นได้ และย้อนดูได้ในโปรไฟล์</a:t>
            </a:r>
          </a:p>
        </p:txBody>
      </p:sp>
    </p:spTree>
    <p:extLst>
      <p:ext uri="{BB962C8B-B14F-4D97-AF65-F5344CB8AC3E}">
        <p14:creationId xmlns:p14="http://schemas.microsoft.com/office/powerpoint/2010/main" val="18150641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2CC7E-BE7B-48EF-A914-8628CC6A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C1D53-874A-4433-AF46-1DCD1EDB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BACK OFFICE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8E188-E4B5-46BD-AE41-09313D87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375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ภาพเดียว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375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คุมงานทั้งพื้นที่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4B7C7-7BCE-4B89-B4EF-07D94F1B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AD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B8CAD2"/>
                </a:solidFill>
                <a:latin typeface="Noto Sans Thai"/>
                <a:ea typeface="Noto Sans Thai"/>
                <a:cs typeface="Noto Sans Thai"/>
              </a:rPr>
              <a:t>เป้าหมาย • มอบหมาย • ผลคัดกรอง</a:t>
            </a:r>
          </a:p>
          <a:p xmlns:a="http://schemas.openxmlformats.org/drawingml/2006/main">
            <a:pPr algn="l">
              <a:defRPr sz="1650" b="0">
                <a:solidFill>
                  <a:srgbClr val="B8CAD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B8CAD2"/>
                </a:solidFill>
                <a:latin typeface="Noto Sans Thai"/>
                <a:ea typeface="Noto Sans Thai"/>
                <a:cs typeface="Noto Sans Thai"/>
              </a:rPr>
              <a:t>ระดับความเสี่ยง • แนวโน้มรายวัน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8B8DF-7FBF-4465-91F7-46CA6F38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1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824DE-90B4-4A57-90EE-7906D34D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000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CF3D8"/>
                </a:solidFill>
                <a:latin typeface="Prompt"/>
                <a:ea typeface="Prompt"/>
                <a:cs typeface="Prompt"/>
              </a:defRPr>
            </a:pPr>
            <a:r>
              <a:rPr sz="1800" b="1">
                <a:solidFill>
                  <a:srgbClr val="9CF3D8"/>
                </a:solidFill>
                <a:latin typeface="Prompt"/>
                <a:ea typeface="Prompt"/>
                <a:cs typeface="Prompt"/>
              </a:rPr>
              <a:t>เปรียบเทียบได้ทั้งระดับหมู่บ้าน หน่วยบริการ และภาพรวมอำเภอ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E4D16-2544-49E8-B6B8-9A561F91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4350"/>
            <a:ext cx="7048500" cy="58293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E7EF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ccb9225374662"/>
          <a:stretch xmlns:a="http://schemas.openxmlformats.org/drawingml/2006/main"/>
        </p:blipFill>
        <p:spPr>
          <a:xfrm xmlns:a="http://schemas.openxmlformats.org/drawingml/2006/main">
            <a:off x="5295900" y="742950"/>
            <a:ext cx="5372100" cy="5372100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</p:spTree>
    <p:extLst>
      <p:ext uri="{BB962C8B-B14F-4D97-AF65-F5344CB8AC3E}">
        <p14:creationId xmlns:p14="http://schemas.microsoft.com/office/powerpoint/2010/main" val="1546429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94614B-D69A-42E5-A29B-016FB639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SMART DATA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09A0A-1DCA-467B-AC85-91BAD479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375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ข้อมูลเข้าครั้งเดียว ระบบจัดกลุ่มให้พร้อมทำงาน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F0EE8-3555-499E-ABB9-D783B60F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909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8658D-259A-46FA-A037-033F82FB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95650"/>
            <a:ext cx="152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EC9C2-1E87-4874-A67A-96C38486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4E3EE-F4E6-4AB2-830F-14C0F46D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95650"/>
            <a:ext cx="152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183F4-ED29-4E95-BD8A-88A7E272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CEEAB-0021-4E8F-897F-9558F3C6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152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54599-CDA1-43E8-94D7-A8EE68F5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909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21F1E-A00D-48CE-B25D-86EF9DF3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95650"/>
            <a:ext cx="152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36901-D0CB-416C-88EB-FEDFC257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4478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48156-4A70-4FB4-8EE7-D3800660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D328C-14C4-4E82-8BE2-0F93B86C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1575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HDC / JHCIS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8790B-2CA5-4098-B0AE-09CE5032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นำเข้าข้อมูล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52A1A-E6F2-4D49-82A2-43240F13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62250"/>
            <a:ext cx="14478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62ECF-9249-4868-A1C1-7FD20E51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33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AB009-338C-49AD-B7CC-79E02C96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33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1575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STAGING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C7718-06EF-40EF-8180-9A6A5BFA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242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พักข้อมูล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516F6-64A6-4E9F-B5F8-CA61512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62250"/>
            <a:ext cx="14478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9525">
            <a:solidFill>
              <a:srgbClr val="081D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00C21-47CB-4149-8D91-D1893885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33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5B029-60CA-4E20-85B9-31649154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33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1575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CLEAN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A7C10-B02F-4125-BCDC-E7E4BCBA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242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9D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B7C9D1"/>
                </a:solidFill>
                <a:latin typeface="Noto Sans Thai"/>
                <a:ea typeface="Noto Sans Thai"/>
                <a:cs typeface="Noto Sans Thai"/>
              </a:rPr>
              <a:t>ตรวจข้อมูลซ้ำ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AEBF95-44E2-43F6-AE54-3C6C02D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62250"/>
            <a:ext cx="14478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E2A33D-6A6D-4EE1-A8D7-FAA252BB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33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8B8F8-F61F-4407-AEE3-64102EF5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1575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B8D692-1CAE-4CC7-9171-1AC97E37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242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กำหนด DM / HT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92A188-CDCF-4647-BB68-039A1304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62250"/>
            <a:ext cx="14478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6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615321-E26D-4CDD-BF95-6DE3DC20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98EEE7-0B49-4FE2-AD9E-C4335B93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1575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ASSIGN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6CBC5E-8BC6-46C2-BB36-6C31DF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242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ส่งงานให้ อสม.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71F0E8-0BD8-44CA-886C-EAD595EF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16EEA0-8E15-4556-B55C-7639F1C8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958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CF3D8"/>
                </a:solidFill>
                <a:latin typeface="Prompt"/>
                <a:ea typeface="Prompt"/>
                <a:cs typeface="Prompt"/>
              </a:defRPr>
            </a:pPr>
            <a:r>
              <a:rPr sz="2100" b="1">
                <a:solidFill>
                  <a:srgbClr val="9CF3D8"/>
                </a:solidFill>
                <a:latin typeface="Prompt"/>
                <a:ea typeface="Prompt"/>
                <a:cs typeface="Prompt"/>
              </a:rPr>
              <a:t>กติกาเป้าหมายอยู่ในระบบ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95E3FB-08A4-4437-9172-552B1B40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38725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คัดผู้ป่วยเดิมออกจากงานที่ไม่จำเป็น และรักษาความเชื่อมโยงของงานเมื่อมีการควบรวมข้อมูล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5322351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C55FB-E0E6-4BB2-8ADB-B89CDAD6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SPATIAL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70740-9949-4F13-A25A-FF54F611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476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405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รายชื่อกลายเป็น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405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แผนลงพื้นที่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98FFD-96B7-47DE-91CA-F7A69CA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rPr>
              <a:t>กรองความเสี่ยง • เลือกหน่วยบริการ</a:t>
            </a:r>
          </a:p>
          <a:p xmlns:a="http://schemas.openxmlformats.org/drawingml/2006/main">
            <a:pPr algn="l">
              <a:defRPr sz="180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rPr>
              <a:t>แก้ไขพิกัดบ้าน • ดูจุดกระจุกตัว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B9DFC-8A43-40B2-A823-B45FB7D6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1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057AE-0DD8-4B53-8651-3C6A0572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CF3D8"/>
                </a:solidFill>
                <a:latin typeface="Prompt"/>
                <a:ea typeface="Prompt"/>
                <a:cs typeface="Prompt"/>
              </a:defRPr>
            </a:pPr>
            <a:r>
              <a:rPr sz="1950" b="1">
                <a:solidFill>
                  <a:srgbClr val="9CF3D8"/>
                </a:solidFill>
                <a:latin typeface="Prompt"/>
                <a:ea typeface="Prompt"/>
                <a:cs typeface="Prompt"/>
              </a:rPr>
              <a:t>มองเห็นพื้นที่ก่อนลงมือ</a:t>
            </a:r>
          </a:p>
          <a:p xmlns:a="http://schemas.openxmlformats.org/drawingml/2006/main">
            <a:pPr algn="l">
              <a:defRPr sz="1950" b="1">
                <a:solidFill>
                  <a:srgbClr val="9CF3D8"/>
                </a:solidFill>
                <a:latin typeface="Prompt"/>
                <a:ea typeface="Prompt"/>
                <a:cs typeface="Prompt"/>
              </a:defRPr>
            </a:pPr>
            <a:r>
              <a:rPr sz="1950" b="1">
                <a:solidFill>
                  <a:srgbClr val="9CF3D8"/>
                </a:solidFill>
                <a:latin typeface="Prompt"/>
                <a:ea typeface="Prompt"/>
                <a:cs typeface="Prompt"/>
              </a:rPr>
              <a:t>ไม่ต้องเริ่มจากตารางรายชื่ออย่างเดียว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12958-5E69-4A44-B0B5-C7B2EF41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8150"/>
            <a:ext cx="6477000" cy="5981700"/>
          </a:xfrm>
          <a:prstGeom xmlns:a="http://schemas.openxmlformats.org/drawingml/2006/main" prst="roundRect">
            <a:avLst>
              <a:gd name="adj" fmla="val 4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865a8b4f940e6"/>
          <a:stretch xmlns:a="http://schemas.openxmlformats.org/drawingml/2006/main"/>
        </p:blipFill>
        <p:spPr>
          <a:xfrm xmlns:a="http://schemas.openxmlformats.org/drawingml/2006/main">
            <a:off x="5467350" y="628650"/>
            <a:ext cx="5600700" cy="5600700"/>
          </a:xfrm>
          <a:prstGeom xmlns:a="http://schemas.openxmlformats.org/drawingml/2006/main" prst="roundRect">
            <a:avLst>
              <a:gd name="adj" fmla="val 3401"/>
            </a:avLst>
          </a:prstGeom>
        </p:spPr>
      </p:pic>
    </p:spTree>
    <p:extLst>
      <p:ext uri="{BB962C8B-B14F-4D97-AF65-F5344CB8AC3E}">
        <p14:creationId xmlns:p14="http://schemas.microsoft.com/office/powerpoint/2010/main" val="7845439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12BAD-83FB-4CCD-96FE-98175D30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DATA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EBED6-37E5-40F8-A7F4-AA9ECAA4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375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สาธิตได้ ทดสอบได้ โดยไม่ปะปนงานจริง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DD307-73C6-4315-A4FF-E20E93FD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285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VISITOR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4CD88-21E9-4610-A8C5-0EFE3872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1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F5B70-5694-4F56-8E50-F48479AE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rPr>
              <a:t>ปกปิดชื่อ เลขบัตร และเบอร์โทร</a:t>
            </a:r>
          </a:p>
          <a:p xmlns:a="http://schemas.openxmlformats.org/drawingml/2006/main">
            <a:pPr algn="l">
              <a:defRPr sz="165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rPr>
              <a:t>พร้อมจำกัดการแก้ไขข้อมูล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936A1-568E-4B7C-BE73-20F2DF2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CF3D8"/>
                </a:solidFill>
                <a:latin typeface="Prompt"/>
                <a:ea typeface="Prompt"/>
                <a:cs typeface="Prompt"/>
              </a:defRPr>
            </a:pPr>
            <a:r>
              <a:rPr sz="2850" b="1">
                <a:solidFill>
                  <a:srgbClr val="9CF3D8"/>
                </a:solidFill>
                <a:latin typeface="Prompt"/>
                <a:ea typeface="Prompt"/>
                <a:cs typeface="Prompt"/>
              </a:rPr>
              <a:t>SANDBOX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2048A-9BE3-4550-8653-953C2C96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004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B60CE-CDF3-4268-8F67-29D5471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814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rPr>
              <a:t>แยกงานทดสอบด้วยสถานะเฉพาะ</a:t>
            </a:r>
          </a:p>
          <a:p xmlns:a="http://schemas.openxmlformats.org/drawingml/2006/main">
            <a:pPr algn="l">
              <a:defRPr sz="165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rPr>
              <a:t>และล้างคืนได้เมื่อจบการสาธิต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E6366-488D-4B9D-8F29-554FCB6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285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9A10D-F6BC-4BB6-9661-F3A6DA3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04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1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C89CA-E395-471C-A5D0-154F8EAA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rPr>
              <a:t>แยกบทบาท อนุมัติสิทธิ์</a:t>
            </a:r>
          </a:p>
          <a:p xmlns:a="http://schemas.openxmlformats.org/drawingml/2006/main">
            <a:pPr algn="l">
              <a:defRPr sz="165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B8CBD3"/>
                </a:solidFill>
                <a:latin typeface="Noto Sans Thai"/>
                <a:ea typeface="Noto Sans Thai"/>
                <a:cs typeface="Noto Sans Thai"/>
              </a:rPr>
              <a:t>และเก็บร่องรอยเหตุการณ์สำคัญ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63E65-E065-4197-8926-FCFBB1B2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CF3D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9CF3D8"/>
                </a:solidFill>
                <a:latin typeface="Noto Sans Thai"/>
                <a:ea typeface="Noto Sans Thai"/>
                <a:cs typeface="Noto Sans Thai"/>
              </a:rPr>
              <a:t>การใช้ข้อมูลสุขภาพจริงยังต้องอยู่ภายใต้นโยบายและมาตรการของหน่วยงาน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20653851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73539-4E2E-428B-9970-6E52A31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587EA-ED35-4EBB-ADF0-5FF37E48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SYSTEM CREDIT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24F29-9C79-4514-B328-0D4D656F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375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พัฒนาโดย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0E474-DE0E-4906-A080-00699368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D33"/>
                </a:solidFill>
                <a:latin typeface="Prompt"/>
                <a:ea typeface="Prompt"/>
                <a:cs typeface="Prompt"/>
              </a:defRPr>
            </a:pPr>
            <a:r>
              <a:rPr sz="3150" b="1">
                <a:solidFill>
                  <a:srgbClr val="081D33"/>
                </a:solidFill>
                <a:latin typeface="Prompt"/>
                <a:ea typeface="Prompt"/>
                <a:cs typeface="Prompt"/>
              </a:rPr>
              <a:t>นายบุญธรรม พันธ์ใหญ่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4152F-BAEE-40EB-8D63-CAB85F23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นักวิชาการคอมพิวเตอร์</a:t>
            </a:r>
          </a:p>
          <a:p xmlns:a="http://schemas.openxmlformats.org/drawingml/2006/main">
            <a:pPr algn="l">
              <a:defRPr sz="18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607384"/>
                </a:solidFill>
                <a:latin typeface="Noto Sans Thai"/>
                <a:ea typeface="Noto Sans Thai"/>
                <a:cs typeface="Noto Sans Thai"/>
              </a:rPr>
              <a:t>สำนักงานสาธารณสุขอำเภอตาลสุม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1FDC7-11FB-46FD-845A-7DCBD29C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428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87B7C-AA68-44E5-B114-A5E67367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800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NCDs Prevention Portal</a:t>
            </a:r>
          </a:p>
          <a:p xmlns:a="http://schemas.openxmlformats.org/drawingml/2006/main">
            <a:pPr algn="l">
              <a:defRPr sz="1800" b="1">
                <a:solidFill>
                  <a:srgbClr val="0AA78C"/>
                </a:solidFill>
                <a:latin typeface="Prompt"/>
                <a:ea typeface="Prompt"/>
                <a:cs typeface="Prompt"/>
              </a:defRPr>
            </a:pPr>
            <a:r>
              <a:rPr sz="1800" b="1">
                <a:solidFill>
                  <a:srgbClr val="0AA78C"/>
                </a:solidFill>
                <a:latin typeface="Prompt"/>
                <a:ea typeface="Prompt"/>
                <a:cs typeface="Prompt"/>
              </a:rPr>
              <a:t>Version 2.6.0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E46B8-3E7B-431D-BDD5-D71CB632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1D3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081D33"/>
                </a:solidFill>
                <a:latin typeface="Noto Sans Thai"/>
                <a:ea typeface="Noto Sans Thai"/>
                <a:cs typeface="Noto Sans Thai"/>
              </a:rPr>
              <a:t>ออกแบบ พัฒนา และปรับปรุงระบบจากกระบวนการทำงานจริงของพื้นที่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526AD-0351-450B-9C54-768CAD1F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2450"/>
            <a:ext cx="4552950" cy="5753100"/>
          </a:xfrm>
          <a:prstGeom xmlns:a="http://schemas.openxmlformats.org/drawingml/2006/main" prst="roundRect">
            <a:avLst>
              <a:gd name="adj" fmla="val 6276"/>
            </a:avLst>
          </a:prstGeom>
          <a:solidFill xmlns:a="http://schemas.openxmlformats.org/drawingml/2006/main">
            <a:srgbClr val="081D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5a2c6538b43a6"/>
          <a:srcRect xmlns:a="http://schemas.openxmlformats.org/drawingml/2006/main" l="11250" t="0" r="1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762000"/>
            <a:ext cx="4133850" cy="5334000"/>
          </a:xfrm>
          <a:prstGeom xmlns:a="http://schemas.openxmlformats.org/drawingml/2006/main" prst="roundRect">
            <a:avLst>
              <a:gd name="adj" fmla="val 5069"/>
            </a:avLst>
          </a:prstGeom>
        </p:spPr>
      </p:pic>
    </p:spTree>
    <p:extLst>
      <p:ext uri="{BB962C8B-B14F-4D97-AF65-F5344CB8AC3E}">
        <p14:creationId xmlns:p14="http://schemas.microsoft.com/office/powerpoint/2010/main" val="17111207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ce05967934b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792BF-718F-4DFC-9CA5-383B1594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6FC2B-D8EF-4490-9B0A-1AF8C79D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200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B339-84F1-4568-B80E-48E115A6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61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91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435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เห็นคุณค่าของระบบ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435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ภายใน 4 จังหวะ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3F812-BE8C-4E18-9821-FE0A82B1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275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F48BC-06B3-4500-984A-1B28ACE0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79FE5-5EEB-4EC7-BBB0-7B0DF377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18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สแกน QR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D96F0-4580-4A88-8462-3B48B7F2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86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275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383D1-52A1-49A9-B8EE-BB6214F2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B92B3-369D-4C0D-ADE8-F914129C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18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คัดกรอง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8C0E3-39C1-4CBE-864A-B69EB7F0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86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275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0B3C6-866D-46DC-A54E-0E7A8489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433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25DE5-0467-40D2-81C1-737E218E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29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18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ส่งงาน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0DE1D-C807-46AE-B89B-38C52A05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86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D6A8"/>
                </a:solidFill>
                <a:latin typeface="Prompt"/>
                <a:ea typeface="Prompt"/>
                <a:cs typeface="Prompt"/>
              </a:defRPr>
            </a:pPr>
            <a:r>
              <a:rPr sz="1275" b="1">
                <a:solidFill>
                  <a:srgbClr val="2ED6A8"/>
                </a:solidFill>
                <a:latin typeface="Prompt"/>
                <a:ea typeface="Prompt"/>
                <a:cs typeface="Prompt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59E56-D649-49F6-9DEB-93338BF8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433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C4D12-B92D-43DA-B454-1EB536D4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rompt"/>
                <a:ea typeface="Prompt"/>
                <a:cs typeface="Prompt"/>
              </a:defRPr>
            </a:pPr>
            <a:r>
              <a:rPr sz="18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เปิด Dashboard +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B524D-0550-4036-84F4-188F5649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1AAB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91AAB5"/>
                </a:solidFill>
                <a:latin typeface="Noto Sans Thai"/>
                <a:ea typeface="Noto Sans Thai"/>
                <a:cs typeface="Noto Sans Thai"/>
              </a:rPr>
              <a:t>NCD Portal ตาลสุม 2026 • Simple at the frontline. Powerful behind the scenes.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AC829-6C9F-4875-A6B3-66A7AFF7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15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428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F3D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9CF3D8"/>
                </a:solidFill>
                <a:latin typeface="Noto Sans Thai"/>
                <a:ea typeface="Noto Sans Thai"/>
                <a:cs typeface="Noto Sans Thai"/>
              </a:rPr>
              <a:t>พัฒนาโดย นายบุญธรรม พันธ์ใหญ่</a:t>
            </a:r>
          </a:p>
        </p:txBody>
      </p:sp>
    </p:spTree>
    <p:extLst>
      <p:ext uri="{BB962C8B-B14F-4D97-AF65-F5344CB8AC3E}">
        <p14:creationId xmlns:p14="http://schemas.microsoft.com/office/powerpoint/2010/main" val="710585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2026-08-19T12:53:47.7410000Z</dcterms:created>
  <dcterms:modified xsi:type="dcterms:W3CDTF">2026-08-19T12:53:47.7420000Z</dcterms:modified>
</coreProperties>
</file>