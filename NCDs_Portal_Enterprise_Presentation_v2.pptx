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16fdee8dc94e90" /><Relationship Type="http://schemas.openxmlformats.org/officeDocument/2006/relationships/extended-properties" Target="/docProps/app.xml" Id="R10fa55baae5c43c8" /><Relationship Type="http://schemas.openxmlformats.org/officeDocument/2006/relationships/officeDocument" Target="/ppt/presentation.xml" Id="R8ab22f192be143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ee058e025a4092"/>
  </p:sldMasterIdLst>
  <p:notesMasterIdLst>
    <p:notesMasterId xmlns:r="http://schemas.openxmlformats.org/officeDocument/2006/relationships" r:id="Rb7820db6d6e041d3"/>
  </p:notesMasterIdLst>
  <p:sldIdLst>
    <p:sldId xmlns:r="http://schemas.openxmlformats.org/officeDocument/2006/relationships" id="256" r:id="R2b2854f5d6f94e78"/>
    <p:sldId xmlns:r="http://schemas.openxmlformats.org/officeDocument/2006/relationships" id="257" r:id="Rc9df58b2cd5444ac"/>
    <p:sldId xmlns:r="http://schemas.openxmlformats.org/officeDocument/2006/relationships" id="258" r:id="R603f4e617dfe4e8e"/>
    <p:sldId xmlns:r="http://schemas.openxmlformats.org/officeDocument/2006/relationships" id="259" r:id="Rca3a9a161804485c"/>
    <p:sldId xmlns:r="http://schemas.openxmlformats.org/officeDocument/2006/relationships" id="260" r:id="R4ab4ce9ae6624113"/>
    <p:sldId xmlns:r="http://schemas.openxmlformats.org/officeDocument/2006/relationships" id="261" r:id="Rff7607ba30da43ab"/>
    <p:sldId xmlns:r="http://schemas.openxmlformats.org/officeDocument/2006/relationships" id="262" r:id="R0ce7e7e5b7f74338"/>
    <p:sldId xmlns:r="http://schemas.openxmlformats.org/officeDocument/2006/relationships" id="263" r:id="R349afc35c0fc457f"/>
    <p:sldId xmlns:r="http://schemas.openxmlformats.org/officeDocument/2006/relationships" id="264" r:id="Rbc20707833354b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9d354b9de543d0" /><Relationship Type="http://schemas.openxmlformats.org/officeDocument/2006/relationships/slideMaster" Target="/ppt/slideMasters/slideMaster1.xml" Id="R5dee058e025a4092" /><Relationship Type="http://schemas.openxmlformats.org/officeDocument/2006/relationships/notesMaster" Target="/ppt/notesMasters/notesMaster1.xml" Id="Rb7820db6d6e041d3" /><Relationship Type="http://schemas.openxmlformats.org/officeDocument/2006/relationships/presProps" Target="/ppt/presProps.xml" Id="R005eb3a9b6d14a2e" /><Relationship Type="http://schemas.openxmlformats.org/officeDocument/2006/relationships/tableStyles" Target="/ppt/tableStyles.xml" Id="R14af70aab69f4def" /><Relationship Type="http://schemas.openxmlformats.org/officeDocument/2006/relationships/slide" Target="/ppt/slides/slide1.xml" Id="R2b2854f5d6f94e78" /><Relationship Type="http://schemas.openxmlformats.org/officeDocument/2006/relationships/slide" Target="/ppt/slides/slide2.xml" Id="Rc9df58b2cd5444ac" /><Relationship Type="http://schemas.openxmlformats.org/officeDocument/2006/relationships/slide" Target="/ppt/slides/slide3.xml" Id="R603f4e617dfe4e8e" /><Relationship Type="http://schemas.openxmlformats.org/officeDocument/2006/relationships/slide" Target="/ppt/slides/slide4.xml" Id="Rca3a9a161804485c" /><Relationship Type="http://schemas.openxmlformats.org/officeDocument/2006/relationships/slide" Target="/ppt/slides/slide5.xml" Id="R4ab4ce9ae6624113" /><Relationship Type="http://schemas.openxmlformats.org/officeDocument/2006/relationships/slide" Target="/ppt/slides/slide6.xml" Id="Rff7607ba30da43ab" /><Relationship Type="http://schemas.openxmlformats.org/officeDocument/2006/relationships/slide" Target="/ppt/slides/slide7.xml" Id="R0ce7e7e5b7f74338" /><Relationship Type="http://schemas.openxmlformats.org/officeDocument/2006/relationships/slide" Target="/ppt/slides/slide8.xml" Id="R349afc35c0fc457f" /><Relationship Type="http://schemas.openxmlformats.org/officeDocument/2006/relationships/slide" Target="/ppt/slides/slide9.xml" Id="Rbc20707833354b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13cea6a06240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e84679bdef426d" /><Relationship Type="http://schemas.openxmlformats.org/officeDocument/2006/relationships/notesMaster" Target="/ppt/notesMasters/notesMaster1.xml" Id="Re20a2e6c187b4d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25967465314ea9" /><Relationship Type="http://schemas.openxmlformats.org/officeDocument/2006/relationships/notesMaster" Target="/ppt/notesMasters/notesMaster1.xml" Id="Red1a894f17d44e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8b2a2bdd34487d" /><Relationship Type="http://schemas.openxmlformats.org/officeDocument/2006/relationships/notesMaster" Target="/ppt/notesMasters/notesMaster1.xml" Id="R07000d322fef47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0b0b3ef6634bc6" /><Relationship Type="http://schemas.openxmlformats.org/officeDocument/2006/relationships/notesMaster" Target="/ppt/notesMasters/notesMaster1.xml" Id="R6cbd5fe02a3b40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f9c1d5c14c4876" /><Relationship Type="http://schemas.openxmlformats.org/officeDocument/2006/relationships/notesMaster" Target="/ppt/notesMasters/notesMaster1.xml" Id="R81362717073246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4afe78117e463e" /><Relationship Type="http://schemas.openxmlformats.org/officeDocument/2006/relationships/notesMaster" Target="/ppt/notesMasters/notesMaster1.xml" Id="R85e396e4e0a742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bd7738d0204742" /><Relationship Type="http://schemas.openxmlformats.org/officeDocument/2006/relationships/notesMaster" Target="/ppt/notesMasters/notesMaster1.xml" Id="R801c08a5806a43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4794e22a984631" /><Relationship Type="http://schemas.openxmlformats.org/officeDocument/2006/relationships/notesMaster" Target="/ppt/notesMasters/notesMaster1.xml" Id="R94a50d22981c42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878fd54d644173" /><Relationship Type="http://schemas.openxmlformats.org/officeDocument/2006/relationships/notesMaster" Target="/ppt/notesMasters/notesMaster1.xml" Id="R4ef08be5965748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D:/_Site/ssotansum/ncd/assets/infographics/ncd-hero-community-health.png (generated visual); https://ncd.ssotansum.com/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https://ncd.ssotansum.com/index.php?demo_role=vhv; https://ncd.ssotansum.com/index.php?demo_role=staff; https://ncd.ssotansum.com/self_screening.php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https://ncd.ssotansum.com/index.php?demo_role=vhv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 — menus: เคสวิกฤต &amp; ส่งต่อ; Red Alert Station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https://ncd.ssotansum.com/vhv/leaderboard.php; local source vhv/leaderboard.php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https://ncd.ssotansum.com/index.php?demo_role=staff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https://ncd.ssotansum.com/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d5f03a5c294f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f19075c2a141ab" /><Relationship Type="http://schemas.openxmlformats.org/officeDocument/2006/relationships/slideLayout" Target="/ppt/slideLayouts/slideLayout1.xml" Id="R8c41319b56174f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41319b56174f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2a33dd57a4a39" /><Relationship Type="http://schemas.openxmlformats.org/officeDocument/2006/relationships/image" Target="/ppt/media/image.png" Id="R858b31fd4005432b" /><Relationship Type="http://schemas.openxmlformats.org/officeDocument/2006/relationships/notesSlide" Target="/ppt/notesSlides/notesSlide1.xml" Id="R111ecb2e22554d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d55e8e58041d9" /><Relationship Type="http://schemas.openxmlformats.org/officeDocument/2006/relationships/notesSlide" Target="/ppt/notesSlides/notesSlide2.xml" Id="R822e9340415246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8a1c261fd43a7" /><Relationship Type="http://schemas.openxmlformats.org/officeDocument/2006/relationships/image" Target="/ppt/media/image.jpeg" Id="Rb128de3ba3084fc5" /><Relationship Type="http://schemas.openxmlformats.org/officeDocument/2006/relationships/notesSlide" Target="/ppt/notesSlides/notesSlide3.xml" Id="Rd8aaf5423bfb4c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a5d016e3f405b" /><Relationship Type="http://schemas.openxmlformats.org/officeDocument/2006/relationships/notesSlide" Target="/ppt/notesSlides/notesSlide4.xml" Id="R2d6c793b5c6a49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bfa3cd6854bf3" /><Relationship Type="http://schemas.openxmlformats.org/officeDocument/2006/relationships/image" Target="/ppt/media/image2.jpeg" Id="R9a1d90d8c0aa4745" /><Relationship Type="http://schemas.openxmlformats.org/officeDocument/2006/relationships/notesSlide" Target="/ppt/notesSlides/notesSlide5.xml" Id="R1fd00cfe446849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043f2c352402a" /><Relationship Type="http://schemas.openxmlformats.org/officeDocument/2006/relationships/image" Target="/ppt/media/image3.jpeg" Id="Ra8d39537e0a8478c" /><Relationship Type="http://schemas.openxmlformats.org/officeDocument/2006/relationships/notesSlide" Target="/ppt/notesSlides/notesSlide6.xml" Id="R3172f76cb3cc41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834d81d724fa8" /><Relationship Type="http://schemas.openxmlformats.org/officeDocument/2006/relationships/image" Target="/ppt/media/image4.jpeg" Id="Ra2383d4f156b4e50" /><Relationship Type="http://schemas.openxmlformats.org/officeDocument/2006/relationships/notesSlide" Target="/ppt/notesSlides/notesSlide7.xml" Id="R930576691fa649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02523eeb44494" /><Relationship Type="http://schemas.openxmlformats.org/officeDocument/2006/relationships/notesSlide" Target="/ppt/notesSlides/notesSlide8.xml" Id="R1541c397fa1146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0cb528576451e" /><Relationship Type="http://schemas.openxmlformats.org/officeDocument/2006/relationships/notesSlide" Target="/ppt/notesSlides/notesSlide9.xml" Id="Rd8e8e22c90b4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b31fd4005432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5E2C5-B95A-4CC6-8C67-E0476695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74100-8C71-428F-B3D5-740864BE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47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79D"/>
                </a:solidFill>
              </a:defRPr>
            </a:pPr>
            <a:r>
              <a:rPr sz="1200" b="1">
                <a:solidFill>
                  <a:srgbClr val="00979D"/>
                </a:solidFill>
              </a:rPr>
              <a:t>NCDs PORTAL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13DE5-FC7F-4E3B-94ED-7B6DAD03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F4D"/>
                </a:solidFill>
              </a:defRPr>
            </a:pPr>
            <a:r>
              <a:rPr sz="3375" b="1">
                <a:solidFill>
                  <a:srgbClr val="102F4D"/>
                </a:solidFill>
              </a:rPr>
              <a:t>งานสุขภาพชุมชน</a:t>
            </a:r>
          </a:p>
          <a:p xmlns:a="http://schemas.openxmlformats.org/drawingml/2006/main">
            <a:pPr>
              <a:defRPr sz="3375" b="1">
                <a:solidFill>
                  <a:srgbClr val="102F4D"/>
                </a:solidFill>
              </a:defRPr>
            </a:pPr>
            <a:r>
              <a:rPr sz="3375" b="1">
                <a:solidFill>
                  <a:srgbClr val="102F4D"/>
                </a:solidFill>
              </a:rPr>
              <a:t>ที่เริ่มง่าย</a:t>
            </a:r>
          </a:p>
          <a:p xmlns:a="http://schemas.openxmlformats.org/drawingml/2006/main">
            <a:pPr>
              <a:defRPr sz="3375" b="1">
                <a:solidFill>
                  <a:srgbClr val="102F4D"/>
                </a:solidFill>
              </a:defRPr>
            </a:pPr>
            <a:r>
              <a:rPr sz="3375" b="1">
                <a:solidFill>
                  <a:srgbClr val="102F4D"/>
                </a:solidFill>
              </a:rPr>
              <a:t>และเห็นผลเป็นระบบ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7CAF4-0CEB-4043-958E-D80E6749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3762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68A"/>
                </a:solidFill>
              </a:defRPr>
            </a:pPr>
            <a:r>
              <a:rPr sz="1500" b="0">
                <a:solidFill>
                  <a:srgbClr val="61768A"/>
                </a:solidFill>
              </a:rPr>
              <a:t>จากการคัดกรองรายบ้าน สู่การติดตาม</a:t>
            </a:r>
          </a:p>
          <a:p xmlns:a="http://schemas.openxmlformats.org/drawingml/2006/main">
            <a:pPr>
              <a:defRPr sz="1500" b="0">
                <a:solidFill>
                  <a:srgbClr val="61768A"/>
                </a:solidFill>
              </a:defRPr>
            </a:pPr>
            <a:r>
              <a:rPr sz="1500" b="0">
                <a:solidFill>
                  <a:srgbClr val="61768A"/>
                </a:solidFill>
              </a:rPr>
              <a:t>และการกำกับข้อมูลในพื้นที่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01251-204D-4F27-B320-AE6C26B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9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979D"/>
                </a:solidFill>
              </a:defRPr>
            </a:pPr>
            <a:r>
              <a:rPr sz="1650" b="1">
                <a:solidFill>
                  <a:srgbClr val="00979D"/>
                </a:solidFill>
              </a:rPr>
              <a:t>Simple &amp; Easy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3B191-9AAC-4ED0-B66E-25FC6F5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3619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F4D"/>
                </a:solidFill>
              </a:defRPr>
            </a:pPr>
            <a:r>
              <a:rPr sz="1200" b="1">
                <a:solidFill>
                  <a:srgbClr val="102F4D"/>
                </a:solidFill>
              </a:rPr>
              <a:t>พัฒนาโดย นายบุญธรรม พันธ์ใหญ่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52D93-209B-41C7-AB19-FC2DB131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769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1768A"/>
                </a:solidFill>
              </a:defRPr>
            </a:pPr>
            <a:r>
              <a:rPr sz="1050" b="0">
                <a:solidFill>
                  <a:srgbClr val="61768A"/>
                </a:solidFill>
              </a:rPr>
              <a:t>นักวิชาการคอมพิวเตอร์ • สสอ.ตาลสุม</a:t>
            </a:r>
          </a:p>
        </p:txBody>
      </p:sp>
    </p:spTree>
    <p:extLst>
      <p:ext uri="{BB962C8B-B14F-4D97-AF65-F5344CB8AC3E}">
        <p14:creationId xmlns:p14="http://schemas.microsoft.com/office/powerpoint/2010/main" val="2033871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D9D0E-F2B6-4AB9-B100-DDFB0691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ONE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818C8-B846-4368-B413-21C9C54D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4D"/>
                </a:solidFill>
              </a:defRPr>
            </a:pPr>
            <a:r>
              <a:rPr sz="3150" b="1">
                <a:solidFill>
                  <a:srgbClr val="102F4D"/>
                </a:solidFill>
              </a:rPr>
              <a:t>งานหนึ่งระบบ เพื่อให้ทุกคนเห็น “ก้าวถัดไป” ของตน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8ED5F-53CD-4FE2-9D33-31CDE75E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ไม่ต้องพาผู้ใช้ข้ามหลายเครื่องมือเพื่อทำงานที่เกี่ยวเนื่องกัน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1F8A4-6807-4985-B2E1-E6B44CF9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4D"/>
                </a:solidFill>
              </a:defRPr>
            </a:pPr>
            <a:r>
              <a:rPr sz="2850" b="1">
                <a:solidFill>
                  <a:srgbClr val="102F4D"/>
                </a:solidFill>
              </a:rPr>
              <a:t>อสม.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03DE3-8030-410B-8898-40909750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งานรายบ้าน</a:t>
            </a:r>
          </a:p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และผลคัดกรอง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0F985-DC5C-427A-B966-DD9F7F9C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74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979D"/>
                </a:solidFill>
              </a:defRPr>
            </a:pPr>
            <a:r>
              <a:rPr sz="2850" b="1">
                <a:solidFill>
                  <a:srgbClr val="00979D"/>
                </a:solidFill>
              </a:rPr>
              <a:t>เจ้าหน้าที่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D9A22-2E55-4D81-A60E-AF1DDF24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เป้าหมาย งานค้าง</a:t>
            </a:r>
          </a:p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และภาพรวมพื้นที่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1E171-099E-42B8-B9B2-4D2F3DA1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F4D"/>
                </a:solidFill>
              </a:defRPr>
            </a:pPr>
            <a:r>
              <a:rPr sz="2850" b="1">
                <a:solidFill>
                  <a:srgbClr val="102F4D"/>
                </a:solidFill>
              </a:rPr>
              <a:t>ประชาชน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91655-454C-44F0-AF27-3319E5E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ประเมินสุขภาพ</a:t>
            </a:r>
          </a:p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และคำแนะนำเบื้องต้น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E5D40-FA4D-47B6-B13B-0FE47CCF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F4D"/>
                </a:solidFill>
              </a:defRPr>
            </a:pPr>
            <a:r>
              <a:rPr sz="2175" b="1">
                <a:solidFill>
                  <a:srgbClr val="102F4D"/>
                </a:solidFill>
              </a:rPr>
              <a:t>ข้อมูลที่ใช้งานได้ • ทำงานได้ง่าย • ติดตามได้ต่อเนื่อง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0C564-8489-4F87-8775-A021F46A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68A"/>
                </a:solidFill>
              </a:defRPr>
            </a:pPr>
            <a:r>
              <a:rPr sz="900" b="0">
                <a:solidFill>
                  <a:srgbClr val="61768A"/>
                </a:solidFill>
              </a:rPr>
              <a:t>NCDs Portal  |  สำนักงานสาธารณสุขอำเภอตาลสุม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EEF7D-5731-4592-95B1-421E67BD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929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1759A-3190-4B33-B48E-FE2F61EF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FIELDWORK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94AEB-F7E4-4FC7-A729-23CF5617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4D"/>
                </a:solidFill>
              </a:defRPr>
            </a:pPr>
            <a:r>
              <a:rPr sz="3150" b="1">
                <a:solidFill>
                  <a:srgbClr val="102F4D"/>
                </a:solidFill>
              </a:rPr>
              <a:t>งานคัดกรองเริ่มจากรายการที่พร้อมทำ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129C2-5EFD-4E1D-A54A-B3D0DBC6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หน้าจอ อสม. แยกงานค้าง งาน DPAC และงานที่เสร็จสิ้น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8de3ba3084fc5"/>
          <a:srcRect xmlns:a="http://schemas.openxmlformats.org/drawingml/2006/main" l="18450" t="0" r="184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562100"/>
            <a:ext cx="4762500" cy="424815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C8F98-662F-48AE-8FAA-8E12116E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979D"/>
                </a:solidFill>
              </a:defRPr>
            </a:pPr>
            <a:r>
              <a:rPr sz="1950" b="1">
                <a:solidFill>
                  <a:srgbClr val="00979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4C465-3824-4DEF-8D5B-B85567B4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F4D"/>
                </a:solidFill>
              </a:defRPr>
            </a:pPr>
            <a:r>
              <a:rPr sz="2325" b="1">
                <a:solidFill>
                  <a:srgbClr val="102F4D"/>
                </a:solidFill>
              </a:rPr>
              <a:t>เลือกบ้านเป้าหมาย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BBF79-B3F8-4A19-B44E-5CB4734B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68A"/>
                </a:solidFill>
              </a:defRPr>
            </a:pPr>
            <a:r>
              <a:rPr sz="1350" b="0">
                <a:solidFill>
                  <a:srgbClr val="61768A"/>
                </a:solidFill>
              </a:rPr>
              <a:t>เห็นผู้รับคัดกรองและสิทธิ์การตรวจในรายการเดียว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43EFA-6632-4DAD-AA98-B072A74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979D"/>
                </a:solidFill>
              </a:defRPr>
            </a:pPr>
            <a:r>
              <a:rPr sz="1950" b="1">
                <a:solidFill>
                  <a:srgbClr val="00979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8852D-92D6-411A-BBCC-BC8A1AF9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F4D"/>
                </a:solidFill>
              </a:defRPr>
            </a:pPr>
            <a:r>
              <a:rPr sz="2325" b="1">
                <a:solidFill>
                  <a:srgbClr val="102F4D"/>
                </a:solidFill>
              </a:rPr>
              <a:t>เข้าแบบคัดกรองผ่าน QR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3C51E-2810-40AE-AE9D-5ECB84E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2917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68A"/>
                </a:solidFill>
              </a:defRPr>
            </a:pPr>
            <a:r>
              <a:rPr sz="1350" b="0">
                <a:solidFill>
                  <a:srgbClr val="61768A"/>
                </a:solidFill>
              </a:rPr>
              <a:t>ลดขั้นตอนการค้นหางานเมื่ออยู่หน้างาน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77EF4-44A0-40F9-B08A-CA675BE2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68A"/>
                </a:solidFill>
              </a:defRPr>
            </a:pPr>
            <a:r>
              <a:rPr sz="900" b="0">
                <a:solidFill>
                  <a:srgbClr val="61768A"/>
                </a:solidFill>
              </a:rPr>
              <a:t>NCDs Portal  |  สำนักงานสาธารณสุขอำเภอตาลสุม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E8124-C674-49F2-B369-AD7260C8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9166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F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93519-0C9B-4382-870A-CEACA86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6DED4"/>
                </a:solidFill>
              </a:defRPr>
            </a:pPr>
            <a:r>
              <a:rPr sz="1050" b="1">
                <a:solidFill>
                  <a:srgbClr val="76DED4"/>
                </a:solidFill>
              </a:rPr>
              <a:t>CASE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70265-ED9C-40CB-9F02-A5F9339F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723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เมื่อพบเคสที่ต้องติดตาม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ระบบพาไปสู่การประสานงานต่อ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A5951-DC0F-491B-86CF-5D8C21A0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9EAF2"/>
                </a:solidFill>
              </a:defRPr>
            </a:pPr>
            <a:r>
              <a:rPr sz="1425" b="0">
                <a:solidFill>
                  <a:srgbClr val="D9EAF2"/>
                </a:solidFill>
              </a:rPr>
              <a:t>มีเมนูเคสวิกฤตและส่งต่อ รวมถึง Red Alert Station สำหรับผู้ดูแล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474A9A-E6A7-4DED-8F42-1BB66E48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80987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496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5052D-FA17-42F8-A2F9-83EC8016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67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DED4"/>
                </a:solidFill>
              </a:defRPr>
            </a:pPr>
            <a:r>
              <a:rPr sz="1500" b="1">
                <a:solidFill>
                  <a:srgbClr val="76DED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2D38A-0FE0-459C-BA6C-D60306B7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บันทึกผล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22519-1145-46BC-9374-D741DDE8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338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EAF2"/>
                </a:solidFill>
              </a:defRPr>
            </a:pPr>
            <a:r>
              <a:rPr sz="1200" b="0">
                <a:solidFill>
                  <a:srgbClr val="D9EAF2"/>
                </a:solidFill>
              </a:rPr>
              <a:t>ระบุผลที่ต้องติดตาม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41FB7-7405-41AA-8DF6-DE64B89A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280987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496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18F13-5099-4DA3-8B28-2C4C90F5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467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DED4"/>
                </a:solidFill>
              </a:defRPr>
            </a:pPr>
            <a:r>
              <a:rPr sz="1500" b="1">
                <a:solidFill>
                  <a:srgbClr val="76DED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7CBF1-FEFD-4418-9FE5-819F20A5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05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แจ้งงาน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93871-1956-47FA-A6F6-4E13D4FB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338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EAF2"/>
                </a:solidFill>
              </a:defRPr>
            </a:pPr>
            <a:r>
              <a:rPr sz="1200" b="0">
                <a:solidFill>
                  <a:srgbClr val="D9EAF2"/>
                </a:solidFill>
              </a:rPr>
              <a:t>ส่งต่อผู้รับผิดชอบ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A9E0E-DD9A-40B9-83B1-5235C916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280987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C496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4323E-2B13-46CF-A01A-DEAEC4D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671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6DED4"/>
                </a:solidFill>
              </a:defRPr>
            </a:pPr>
            <a:r>
              <a:rPr sz="1500" b="1">
                <a:solidFill>
                  <a:srgbClr val="76DED4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B461E-DFE4-42AF-8B71-0BFA460E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05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ติดตามสถานะ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F96B7-2B7D-4027-B078-CA50B6A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338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9EAF2"/>
                </a:solidFill>
              </a:defRPr>
            </a:pPr>
            <a:r>
              <a:rPr sz="1200" b="0">
                <a:solidFill>
                  <a:srgbClr val="D9EAF2"/>
                </a:solidFill>
              </a:rPr>
              <a:t>ตรวจสอบงานที่ดำเนินการ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3CE13-76BA-420E-9551-5FA2D1A0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6DED4"/>
                </a:solidFill>
              </a:defRPr>
            </a:pPr>
            <a:r>
              <a:rPr sz="1500" b="0">
                <a:solidFill>
                  <a:srgbClr val="76DED4"/>
                </a:solidFill>
              </a:rPr>
              <a:t>การสื่อสารที่มีขั้นตอนชัดเจน ช่วยให้ทีมเห็นว่างานอยู่จุดใด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C9966-36E0-46FA-88B7-3D95F8B6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68A"/>
                </a:solidFill>
              </a:defRPr>
            </a:pPr>
            <a:r>
              <a:rPr sz="900" b="0">
                <a:solidFill>
                  <a:srgbClr val="61768A"/>
                </a:solidFill>
              </a:rPr>
              <a:t>NCDs Portal  |  สำนักงานสาธารณสุขอำเภอตาลสุม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4C8C2A-8605-4257-BF83-A136D427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6161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91063-5336-4A48-9439-9C4E844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RECOGNITION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22020-1951-44AB-8B06-612CB9B7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4D"/>
                </a:solidFill>
              </a:defRPr>
            </a:pPr>
            <a:r>
              <a:rPr sz="3150" b="1">
                <a:solidFill>
                  <a:srgbClr val="102F4D"/>
                </a:solidFill>
              </a:rPr>
              <a:t>ผลงานที่ทำ ให้มองเห็นและติดตามได้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7B84C-AB0E-4AAE-B237-2550E509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คะแนน รางวัล และฉายาอยู่บนเส้นทางเดียวกับงานที่สำเร็จ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d90d8c0aa4745"/>
          <a:srcRect xmlns:a="http://schemas.openxmlformats.org/drawingml/2006/main" l="18731" t="0" r="187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752600"/>
            <a:ext cx="4286250" cy="3857625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F9F4C-01ED-43DC-9E51-652519EF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05000"/>
            <a:ext cx="49149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F5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864EF-C1B5-4FED-BA33-0025F2CB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669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กระดานคะแนน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B8693-A73F-4319-9579-016BFD0E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717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A"/>
                </a:solidFill>
              </a:defRPr>
            </a:pPr>
            <a:r>
              <a:rPr sz="1200" b="0">
                <a:solidFill>
                  <a:srgbClr val="61768A"/>
                </a:solidFill>
              </a:rPr>
              <a:t>เห็นอันดับผลงานในพื้นที่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6AF21-8C05-4685-BAAF-CD2F4344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49149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96499-BCA4-431B-A786-2DC0E62C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623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ฉายาและตราเกียรติยศ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F90D3-7490-4B8B-B6AA-E53971E8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A"/>
                </a:solidFill>
              </a:defRPr>
            </a:pPr>
            <a:r>
              <a:rPr sz="1200" b="0">
                <a:solidFill>
                  <a:srgbClr val="61768A"/>
                </a:solidFill>
              </a:rPr>
              <a:t>จัดแสดงฉายาตามอันดับ Top 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A8EBE-770C-4AC0-A37C-32575CB3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49149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81361-97E7-412E-8255-195126BE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576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F4D"/>
                </a:solidFill>
              </a:defRPr>
            </a:pPr>
            <a:r>
              <a:rPr sz="1875" b="1">
                <a:solidFill>
                  <a:srgbClr val="102F4D"/>
                </a:solidFill>
              </a:rPr>
              <a:t>ศูนย์แลกรางวัล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5B0AF-478E-474D-8E59-C9B27EFE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624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A"/>
                </a:solidFill>
              </a:defRPr>
            </a:pPr>
            <a:r>
              <a:rPr sz="1200" b="0">
                <a:solidFill>
                  <a:srgbClr val="61768A"/>
                </a:solidFill>
              </a:rPr>
              <a:t>จัดการคะแนนและรายการของรางวัลในระบบ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4F715-ABE8-40B2-929C-FC198762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68A"/>
                </a:solidFill>
              </a:defRPr>
            </a:pPr>
            <a:r>
              <a:rPr sz="900" b="0">
                <a:solidFill>
                  <a:srgbClr val="61768A"/>
                </a:solidFill>
              </a:rPr>
              <a:t>NCDs Portal  |  สำนักงานสาธารณสุขอำเภอตาลสุม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20403-FD79-4EA0-BC71-BBD74F22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1459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B631C-122F-4805-BE79-D60BDD4A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6CE88-9970-46F8-BF73-7DB53A3C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4D"/>
                </a:solidFill>
              </a:defRPr>
            </a:pPr>
            <a:r>
              <a:rPr sz="3150" b="1">
                <a:solidFill>
                  <a:srgbClr val="102F4D"/>
                </a:solidFill>
              </a:rPr>
              <a:t>การติดตามไม่จบที่ผลคัดกรองครั้งแรก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48412-2A0D-4A4E-8365-5C2842C4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แดชบอร์ดแยกรอบคัดกรองหลัก การติดตามซ้ำ และงานรอดำเนินการ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39537e0a8478c"/>
          <a:srcRect xmlns:a="http://schemas.openxmlformats.org/drawingml/2006/main" l="12063" t="0" r="120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38300"/>
            <a:ext cx="5238750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6E2EF-3684-4B9A-BF70-726220D6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979D"/>
                </a:solidFill>
              </a:defRPr>
            </a:pPr>
            <a:r>
              <a:rPr sz="2250" b="1">
                <a:solidFill>
                  <a:srgbClr val="00979D"/>
                </a:solidFill>
              </a:rPr>
              <a:t>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DCE8B-3CD2-4F7E-BF2F-FE651FF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F4D"/>
                </a:solidFill>
              </a:defRPr>
            </a:pPr>
            <a:r>
              <a:rPr sz="1650" b="1">
                <a:solidFill>
                  <a:srgbClr val="102F4D"/>
                </a:solidFill>
              </a:rPr>
              <a:t>รอบคัดกรองหลัก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010DC-C670-48D4-AAA7-3F3AD840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979D"/>
                </a:solidFill>
              </a:defRPr>
            </a:pPr>
            <a:r>
              <a:rPr sz="2250" b="1">
                <a:solidFill>
                  <a:srgbClr val="00979D"/>
                </a:solidFill>
              </a:rPr>
              <a:t>Re-screening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1888C-592F-4E77-8E65-92B1B1C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F4D"/>
                </a:solidFill>
              </a:defRPr>
            </a:pPr>
            <a:r>
              <a:rPr sz="1650" b="1">
                <a:solidFill>
                  <a:srgbClr val="102F4D"/>
                </a:solidFill>
              </a:rPr>
              <a:t>ติดตามซ้ำเป็นรอบ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23C25-4081-4D2A-8381-4A64A21D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979D"/>
                </a:solidFill>
              </a:defRPr>
            </a:pPr>
            <a:r>
              <a:rPr sz="2250" b="1">
                <a:solidFill>
                  <a:srgbClr val="00979D"/>
                </a:solidFill>
              </a:rPr>
              <a:t>DPAC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40C23-8633-4737-BFA1-2F2818A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F4D"/>
                </a:solidFill>
              </a:defRPr>
            </a:pPr>
            <a:r>
              <a:rPr sz="1650" b="1">
                <a:solidFill>
                  <a:srgbClr val="102F4D"/>
                </a:solidFill>
              </a:rPr>
              <a:t>งานปรับพฤติกรรมและการติดตาม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16F9E-B2D8-4858-8091-94704924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68A"/>
                </a:solidFill>
              </a:defRPr>
            </a:pPr>
            <a:r>
              <a:rPr sz="900" b="0">
                <a:solidFill>
                  <a:srgbClr val="61768A"/>
                </a:solidFill>
              </a:rPr>
              <a:t>NCDs Portal  |  สำนักงานสาธารณสุขอำเภอตาลสุม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97466-3F74-42B9-A04C-137AF40F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7455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FC695-4276-4488-AA90-B21B0806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DECISION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F080E-473C-42A8-ACC7-1670F4E6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4D"/>
                </a:solidFill>
              </a:defRPr>
            </a:pPr>
            <a:r>
              <a:rPr sz="3150" b="1">
                <a:solidFill>
                  <a:srgbClr val="102F4D"/>
                </a:solidFill>
              </a:rPr>
              <a:t>ข้อมูลภาพรวมอยู่ในหน้าเดียวที่อ่านได้เร็ว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D605A-C02B-40E3-A78D-951A4825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ดูความครอบคลุม ความเสี่ยง ความก้าวหน้า และแผนที่ตามพื้นที่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83d4f156b4e50"/>
          <a:srcRect xmlns:a="http://schemas.openxmlformats.org/drawingml/2006/main" l="3998" t="0" r="39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743075"/>
            <a:ext cx="647700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9BC0C-7027-4892-B276-48420E8C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32956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5F5F2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3B25A-B367-48A7-9E88-A5ED182B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79D"/>
                </a:solidFill>
              </a:defRPr>
            </a:pPr>
            <a:r>
              <a:rPr sz="1500" b="1">
                <a:solidFill>
                  <a:srgbClr val="00979D"/>
                </a:solidFill>
              </a:rPr>
              <a:t>ความครอบคลุม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68500-2D99-4D8D-9C99-FD57460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336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68A"/>
                </a:solidFill>
              </a:defRPr>
            </a:pPr>
            <a:r>
              <a:rPr sz="1125" b="0">
                <a:solidFill>
                  <a:srgbClr val="61768A"/>
                </a:solidFill>
              </a:rPr>
              <a:t>เป้าหมายและผลคัดกรอง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3A358-E335-4440-95A5-92918672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32956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D43D9-B8EF-4AD9-B459-8AFB801F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79D"/>
                </a:solidFill>
              </a:defRPr>
            </a:pPr>
            <a:r>
              <a:rPr sz="1500" b="1">
                <a:solidFill>
                  <a:srgbClr val="00979D"/>
                </a:solidFill>
              </a:rPr>
              <a:t>ระดับความเสี่ยง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7D790-B5A2-4508-B165-5CA524C0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099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68A"/>
                </a:solidFill>
              </a:defRPr>
            </a:pPr>
            <a:r>
              <a:rPr sz="1125" b="0">
                <a:solidFill>
                  <a:srgbClr val="61768A"/>
                </a:solidFill>
              </a:rPr>
              <a:t>ปกติ กลุ่มเสี่ยง และสงสัยป่วย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D78C1-B66F-4661-AD2F-3B308AE0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32956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5D645-B50B-46DA-95BE-A4AC271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79D"/>
                </a:solidFill>
              </a:defRPr>
            </a:pPr>
            <a:r>
              <a:rPr sz="1500" b="1">
                <a:solidFill>
                  <a:srgbClr val="00979D"/>
                </a:solidFill>
              </a:rPr>
              <a:t>ความก้าวหน้ารายรอบ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E08ED-D35E-4F7E-B0B6-27B872C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862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68A"/>
                </a:solidFill>
              </a:defRPr>
            </a:pPr>
            <a:r>
              <a:rPr sz="1125" b="0">
                <a:solidFill>
                  <a:srgbClr val="61768A"/>
                </a:solidFill>
              </a:rPr>
              <a:t>Baseline และการติดตามซ้ำ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F56D8-6E34-4E99-B29B-3B7369BB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32956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C38A5-7966-4CC0-8B48-E6E7E70F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79D"/>
                </a:solidFill>
              </a:defRPr>
            </a:pPr>
            <a:r>
              <a:rPr sz="1500" b="1">
                <a:solidFill>
                  <a:srgbClr val="00979D"/>
                </a:solidFill>
              </a:rPr>
              <a:t>แผนที่กลุ่มเสี่ยง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269E9-19DB-41E8-BD76-AE493FFF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625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1768A"/>
                </a:solidFill>
              </a:defRPr>
            </a:pPr>
            <a:r>
              <a:rPr sz="1125" b="0">
                <a:solidFill>
                  <a:srgbClr val="61768A"/>
                </a:solidFill>
              </a:rPr>
              <a:t>กรองตามความเสี่ยงและ รพ.สต.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F63C9-69DA-422C-A5B4-03B5CA0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68A"/>
                </a:solidFill>
              </a:defRPr>
            </a:pPr>
            <a:r>
              <a:rPr sz="900" b="0">
                <a:solidFill>
                  <a:srgbClr val="61768A"/>
                </a:solidFill>
              </a:rPr>
              <a:t>NCDs Portal  |  สำนักงานสาธารณสุขอำเภอตาลสุม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9A47E-00D3-478B-8E8B-98157F52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62299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8B92B-E199-4FE9-B03E-F906F37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BACK OFFICE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3E52F-2CBC-475C-8745-5B112293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F4D"/>
                </a:solidFill>
              </a:defRPr>
            </a:pPr>
            <a:r>
              <a:rPr sz="3150" b="1">
                <a:solidFill>
                  <a:srgbClr val="102F4D"/>
                </a:solidFill>
              </a:rPr>
              <a:t>หลังบ้านที่ทำให้การทำงานประจำวันเป็นระเบียบ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91E6A7-77B4-42F9-8D0F-B26EF972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68A"/>
                </a:solidFill>
              </a:defRPr>
            </a:pPr>
            <a:r>
              <a:rPr sz="1425" b="0">
                <a:solidFill>
                  <a:srgbClr val="61768A"/>
                </a:solidFill>
              </a:rPr>
              <a:t>ฟังก์ชันจัดการระบบรวมอยู่กับงานของผู้ดูแล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91D27-1198-425B-879D-5EF0F668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050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79D"/>
                </a:solidFill>
              </a:defRPr>
            </a:pPr>
            <a:r>
              <a:rPr sz="1500" b="1">
                <a:solidFill>
                  <a:srgbClr val="00979D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53272-A98E-40BC-9376-E27DDB75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669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F4D"/>
                </a:solidFill>
              </a:defRPr>
            </a:pPr>
            <a:r>
              <a:rPr sz="1950" b="1">
                <a:solidFill>
                  <a:srgbClr val="102F4D"/>
                </a:solidFill>
              </a:rPr>
              <a:t>ประชากรเป้าหมาย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19C01-1500-4784-B1FC-6FEEB1AC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860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68A"/>
                </a:solidFill>
              </a:defRPr>
            </a:pPr>
            <a:r>
              <a:rPr sz="1275" b="0">
                <a:solidFill>
                  <a:srgbClr val="61768A"/>
                </a:solidFill>
              </a:rPr>
              <a:t>หน่วยบริการ • บ้าน • การมอบหมาย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70E95-A798-4ECC-A83C-6C3ED291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6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C49DA-1B95-4552-BE05-4C917F7B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79D"/>
                </a:solidFill>
              </a:defRPr>
            </a:pPr>
            <a:r>
              <a:rPr sz="1500" b="1">
                <a:solidFill>
                  <a:srgbClr val="00979D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57D88-A2A2-404D-9049-232B5428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669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F4D"/>
                </a:solidFill>
              </a:defRPr>
            </a:pPr>
            <a:r>
              <a:rPr sz="1950" b="1">
                <a:solidFill>
                  <a:srgbClr val="102F4D"/>
                </a:solidFill>
              </a:rPr>
              <a:t>ซิงค์ข้อมูล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9F653-E43D-4427-B765-E8A48209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860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68A"/>
                </a:solidFill>
              </a:defRPr>
            </a:pPr>
            <a:r>
              <a:rPr sz="1275" b="0">
                <a:solidFill>
                  <a:srgbClr val="61768A"/>
                </a:solidFill>
              </a:rPr>
              <a:t>เมนูซิงค์ฐานข้อมูล JHCIS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1F8C9-61CB-4297-BE46-C9ED3BA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19425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7218B-1A8D-41A6-A0E6-009AF319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79D"/>
                </a:solidFill>
              </a:defRPr>
            </a:pPr>
            <a:r>
              <a:rPr sz="1500" b="1">
                <a:solidFill>
                  <a:srgbClr val="00979D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F81D3-C3B9-413B-A195-01B4473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71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F4D"/>
                </a:solidFill>
              </a:defRPr>
            </a:pPr>
            <a:r>
              <a:rPr sz="1950" b="1">
                <a:solidFill>
                  <a:srgbClr val="102F4D"/>
                </a:solidFill>
              </a:rPr>
              <a:t>โหมดทดลอง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53181D-44D2-4BA4-8D98-AAB570F8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909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68A"/>
                </a:solidFill>
              </a:defRPr>
            </a:pPr>
            <a:r>
              <a:rPr sz="1275" b="0">
                <a:solidFill>
                  <a:srgbClr val="61768A"/>
                </a:solidFill>
              </a:rPr>
              <a:t>Virtual Mode เพื่อสาธิตและฝึกใช้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55A1A-8515-411E-8AD1-35A4242A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8D40A-FCE4-48D8-B156-6812F3B1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99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979D"/>
                </a:solidFill>
              </a:defRPr>
            </a:pPr>
            <a:r>
              <a:rPr sz="1500" b="1">
                <a:solidFill>
                  <a:srgbClr val="00979D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C68DD-EE72-4180-B6AA-17A4010D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71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F4D"/>
                </a:solidFill>
              </a:defRPr>
            </a:pPr>
            <a:r>
              <a:rPr sz="1950" b="1">
                <a:solidFill>
                  <a:srgbClr val="102F4D"/>
                </a:solidFill>
              </a:rPr>
              <a:t>การควบคุมระบบ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57C4A-7802-4AAB-BC56-84A735FB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909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68A"/>
                </a:solidFill>
              </a:defRPr>
            </a:pPr>
            <a:r>
              <a:rPr sz="1275" b="0">
                <a:solidFill>
                  <a:srgbClr val="61768A"/>
                </a:solidFill>
              </a:rPr>
              <a:t>ปีงบประมาณ • Secure Log • ข้อความ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C8934-A003-4014-A0EE-7B537394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9E6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A98B3-605E-431D-9C29-EC432F3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68A"/>
                </a:solidFill>
              </a:defRPr>
            </a:pPr>
            <a:r>
              <a:rPr sz="900" b="0">
                <a:solidFill>
                  <a:srgbClr val="61768A"/>
                </a:solidFill>
              </a:rPr>
              <a:t>NCDs Portal  |  สำนักงานสาธารณสุขอำเภอตาลสุม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E2D13-3149-4DDD-85F2-9FCEDAA2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3229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5FC20-CFE6-4245-AEA5-84F0B1FE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979D"/>
                </a:solidFill>
              </a:defRPr>
            </a:pPr>
            <a:r>
              <a:rPr sz="1200" b="1">
                <a:solidFill>
                  <a:srgbClr val="00979D"/>
                </a:solidFill>
              </a:rPr>
              <a:t>NCDs PORTAL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5F9AF-02F7-4B17-AE4B-D6E4C330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F4D"/>
                </a:solidFill>
              </a:defRPr>
            </a:pPr>
            <a:r>
              <a:rPr sz="3600" b="1">
                <a:solidFill>
                  <a:srgbClr val="102F4D"/>
                </a:solidFill>
              </a:rPr>
              <a:t>เริ่มง่ายในพื้นที่</a:t>
            </a:r>
          </a:p>
          <a:p xmlns:a="http://schemas.openxmlformats.org/drawingml/2006/main">
            <a:pPr>
              <a:defRPr sz="3600" b="1">
                <a:solidFill>
                  <a:srgbClr val="102F4D"/>
                </a:solidFill>
              </a:defRPr>
            </a:pPr>
            <a:r>
              <a:rPr sz="3600" b="1">
                <a:solidFill>
                  <a:srgbClr val="102F4D"/>
                </a:solidFill>
              </a:rPr>
              <a:t>และเชื่อมต่อสู่การกำกับที่ชัดเจน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3F9C7-7FC6-4B9A-AE66-85E1A9FE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1768A"/>
                </a:solidFill>
              </a:defRPr>
            </a:pPr>
            <a:r>
              <a:rPr sz="1575" b="0">
                <a:solidFill>
                  <a:srgbClr val="61768A"/>
                </a:solidFill>
              </a:rPr>
              <a:t>อสม. ทำงานรายบ้าน • เจ้าหน้าที่เห็นก้าวถัดไป • ประชาชนเริ่มประเมินสุขภาพได้เอง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BB3DC-77B5-4B72-B1B9-A72103EE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0668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51C6A-A3B6-4CE5-B64D-AB11D00A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7667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979D"/>
                </a:solidFill>
              </a:defRPr>
            </a:pPr>
            <a:r>
              <a:rPr sz="1575" b="1">
                <a:solidFill>
                  <a:srgbClr val="00979D"/>
                </a:solidFill>
              </a:rPr>
              <a:t>เครดิตการพัฒนาระบบ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D6EFE-AE5B-4B15-A15D-5C19EB15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F4D"/>
                </a:solidFill>
              </a:defRPr>
            </a:pPr>
            <a:r>
              <a:rPr sz="1500" b="1">
                <a:solidFill>
                  <a:srgbClr val="102F4D"/>
                </a:solidFill>
              </a:rPr>
              <a:t>นายบุญธรรม พันธ์ใหญ่  |  นักวิชาการคอมพิวเตอร์  |  สำนักงานสาธารณสุขอำเภอตาลสุม จังหวัดอุบลราชธานี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AC02D-4960-4773-90C4-F18655C5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979D"/>
                </a:solidFill>
              </a:defRPr>
            </a:pPr>
            <a:r>
              <a:rPr sz="1875" b="1">
                <a:solidFill>
                  <a:srgbClr val="00979D"/>
                </a:solidFill>
              </a:rPr>
              <a:t>ncd.ssotansum.com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BED9E-B573-42D9-9C96-D0ED87E3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581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68A"/>
                </a:solidFill>
              </a:defRPr>
            </a:pPr>
            <a:r>
              <a:rPr sz="900" b="0">
                <a:solidFill>
                  <a:srgbClr val="61768A"/>
                </a:solidFill>
              </a:rPr>
              <a:t>NCDs Portal  |  สำนักงานสาธารณสุขอำเภอตาลสุม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8A9A0-0226-440A-B6A2-CEC2B5E6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770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979D"/>
                </a:solidFill>
              </a:defRPr>
            </a:pPr>
            <a:r>
              <a:rPr sz="975" b="1">
                <a:solidFill>
                  <a:srgbClr val="00979D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5382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2026-08-26T04:34:22.9820000Z</dcterms:created>
  <dcterms:modified xsi:type="dcterms:W3CDTF">2026-08-26T04:34:22.9820000Z</dcterms:modified>
</coreProperties>
</file>