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154e98f24f40d0" /><Relationship Type="http://schemas.openxmlformats.org/officeDocument/2006/relationships/extended-properties" Target="/docProps/app.xml" Id="R08652231490a4e4b" /><Relationship Type="http://schemas.openxmlformats.org/officeDocument/2006/relationships/officeDocument" Target="/ppt/presentation.xml" Id="R2a09c25d13ec44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04b3fd5734429c"/>
  </p:sldMasterIdLst>
  <p:notesMasterIdLst>
    <p:notesMasterId xmlns:r="http://schemas.openxmlformats.org/officeDocument/2006/relationships" r:id="R10a9329106bd460b"/>
  </p:notesMasterIdLst>
  <p:sldIdLst>
    <p:sldId xmlns:r="http://schemas.openxmlformats.org/officeDocument/2006/relationships" id="256" r:id="R96661288349c4ab5"/>
    <p:sldId xmlns:r="http://schemas.openxmlformats.org/officeDocument/2006/relationships" id="257" r:id="R2d2ff3a1d3f448cb"/>
    <p:sldId xmlns:r="http://schemas.openxmlformats.org/officeDocument/2006/relationships" id="258" r:id="Rfd62caaa2f144561"/>
    <p:sldId xmlns:r="http://schemas.openxmlformats.org/officeDocument/2006/relationships" id="259" r:id="R026811d2981f4a24"/>
    <p:sldId xmlns:r="http://schemas.openxmlformats.org/officeDocument/2006/relationships" id="260" r:id="R94f7b1cdd6334c0e"/>
    <p:sldId xmlns:r="http://schemas.openxmlformats.org/officeDocument/2006/relationships" id="261" r:id="R732974fb1aad4b0b"/>
    <p:sldId xmlns:r="http://schemas.openxmlformats.org/officeDocument/2006/relationships" id="262" r:id="R8a97ca823b574844"/>
    <p:sldId xmlns:r="http://schemas.openxmlformats.org/officeDocument/2006/relationships" id="263" r:id="R80e2e410dca446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26a2b9360742a0" /><Relationship Type="http://schemas.openxmlformats.org/officeDocument/2006/relationships/slideMaster" Target="/ppt/slideMasters/slideMaster1.xml" Id="Rb704b3fd5734429c" /><Relationship Type="http://schemas.openxmlformats.org/officeDocument/2006/relationships/notesMaster" Target="/ppt/notesMasters/notesMaster1.xml" Id="R10a9329106bd460b" /><Relationship Type="http://schemas.openxmlformats.org/officeDocument/2006/relationships/presProps" Target="/ppt/presProps.xml" Id="R1f7fbfbe9e6d4cda" /><Relationship Type="http://schemas.openxmlformats.org/officeDocument/2006/relationships/tableStyles" Target="/ppt/tableStyles.xml" Id="Rf93018e3620f4e08" /><Relationship Type="http://schemas.openxmlformats.org/officeDocument/2006/relationships/slide" Target="/ppt/slides/slide1.xml" Id="R96661288349c4ab5" /><Relationship Type="http://schemas.openxmlformats.org/officeDocument/2006/relationships/slide" Target="/ppt/slides/slide2.xml" Id="R2d2ff3a1d3f448cb" /><Relationship Type="http://schemas.openxmlformats.org/officeDocument/2006/relationships/slide" Target="/ppt/slides/slide3.xml" Id="Rfd62caaa2f144561" /><Relationship Type="http://schemas.openxmlformats.org/officeDocument/2006/relationships/slide" Target="/ppt/slides/slide4.xml" Id="R026811d2981f4a24" /><Relationship Type="http://schemas.openxmlformats.org/officeDocument/2006/relationships/slide" Target="/ppt/slides/slide5.xml" Id="R94f7b1cdd6334c0e" /><Relationship Type="http://schemas.openxmlformats.org/officeDocument/2006/relationships/slide" Target="/ppt/slides/slide6.xml" Id="R732974fb1aad4b0b" /><Relationship Type="http://schemas.openxmlformats.org/officeDocument/2006/relationships/slide" Target="/ppt/slides/slide7.xml" Id="R8a97ca823b574844" /><Relationship Type="http://schemas.openxmlformats.org/officeDocument/2006/relationships/slide" Target="/ppt/slides/slide8.xml" Id="R80e2e410dca446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a8fcec85e48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41d3a69784f9a" /><Relationship Type="http://schemas.openxmlformats.org/officeDocument/2006/relationships/notesMaster" Target="/ppt/notesMasters/notesMaster1.xml" Id="R126283dc1ca5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9bb8a89814a6a" /><Relationship Type="http://schemas.openxmlformats.org/officeDocument/2006/relationships/notesMaster" Target="/ppt/notesMasters/notesMaster1.xml" Id="R23d43f3be6c54d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5592daf8f54fb7" /><Relationship Type="http://schemas.openxmlformats.org/officeDocument/2006/relationships/notesMaster" Target="/ppt/notesMasters/notesMaster1.xml" Id="Rdf8d2d0644ab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e42d32a66d4c83" /><Relationship Type="http://schemas.openxmlformats.org/officeDocument/2006/relationships/notesMaster" Target="/ppt/notesMasters/notesMaster1.xml" Id="R18946fb5901e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c8d86587d44ab3" /><Relationship Type="http://schemas.openxmlformats.org/officeDocument/2006/relationships/notesMaster" Target="/ppt/notesMasters/notesMaster1.xml" Id="Rcb250e10dd41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bdd0c720e426e" /><Relationship Type="http://schemas.openxmlformats.org/officeDocument/2006/relationships/notesMaster" Target="/ppt/notesMasters/notesMaster1.xml" Id="Raef1c183b7a045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717bea5064d0b" /><Relationship Type="http://schemas.openxmlformats.org/officeDocument/2006/relationships/notesMaster" Target="/ppt/notesMasters/notesMaster1.xml" Id="R739a4dcc14654f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058aecb9a14e6f" /><Relationship Type="http://schemas.openxmlformats.org/officeDocument/2006/relationships/notesMaster" Target="/ppt/notesMasters/notesMaster1.xml" Id="Rfeecd952c8cd4e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 — หน้าเข้าสู่ระบบและข้อมูลผู้พัฒนา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https://ncd.ssotansum.com/index.php?demo_role=vhv ; https://ncd.ssotansum.com/index.php?demo_role=staff ; https://ncd.ssotansum.com/self_screening.php — โหมดทดลองและแบบประเมินตนเอง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https://ncd.ssotansum.com/index.php?demo_role=vhv — หน้า อสม. ใน Virtual Mode; มีรายการงานค้าง, DPAC, สแกน QR และคะแนน/รางวัล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 — แดชบอร์ด Virtual Mode แสดงความคืบหน้าหลายรอบ, กลุ่มความเสี่ยง, แนวโน้มรายวัน และตารางผลล่าสุด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 — เมนูผู้ดูแลใน Virtual Mode: ประชากรเป้าหมาย, DPAC, มอบหมายงาน, QR, งาน อสม., ส่งต่อ, รายงาน, JHCIS, ข้อความ และ Secure Log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 — ส่วน Geographic NCDs Hotspot Heatmap ระบุการกรองตามความเสี่ยงและเขต รพ.สต.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https://ncd.ssotansum.com/self_screening.php — หน้าแบบประเมินตนเองระบุว่าไม่เก็บข้อมูลส่วนบุคคล, 10 ข้อ, คำแนะนำ 3อ. 2ส. 1น. และ Voice Coach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 — ข้อมูลผู้พัฒนาและเวอร์ชันบนหน้าเข้าสู่ระบบ (สำรวจ 24 ส.ค. 2569)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bb42cfd8843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e1d919645d4467" /><Relationship Type="http://schemas.openxmlformats.org/officeDocument/2006/relationships/slideLayout" Target="/ppt/slideLayouts/slideLayout1.xml" Id="R77fadcfe3880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fadcfe3880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e538bfcea4204" /><Relationship Type="http://schemas.openxmlformats.org/officeDocument/2006/relationships/image" Target="/ppt/media/image.jpeg" Id="Rae5edb8f03034ef9" /><Relationship Type="http://schemas.openxmlformats.org/officeDocument/2006/relationships/notesSlide" Target="/ppt/notesSlides/notesSlide1.xml" Id="Rdd1a8fe3eb89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88e4a6d984954" /><Relationship Type="http://schemas.openxmlformats.org/officeDocument/2006/relationships/image" Target="/ppt/media/image2.jpeg" Id="Rcd8a2199e1164b1e" /><Relationship Type="http://schemas.openxmlformats.org/officeDocument/2006/relationships/image" Target="/ppt/media/image3.jpeg" Id="R00061f43cbda4682" /><Relationship Type="http://schemas.openxmlformats.org/officeDocument/2006/relationships/image" Target="/ppt/media/image4.jpeg" Id="R22436378b228411e" /><Relationship Type="http://schemas.openxmlformats.org/officeDocument/2006/relationships/notesSlide" Target="/ppt/notesSlides/notesSlide2.xml" Id="Rb95aba5d7e224d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b451c5a98459d" /><Relationship Type="http://schemas.openxmlformats.org/officeDocument/2006/relationships/image" Target="/ppt/media/image5.jpeg" Id="R9a9856a5df9d4e6a" /><Relationship Type="http://schemas.openxmlformats.org/officeDocument/2006/relationships/notesSlide" Target="/ppt/notesSlides/notesSlide3.xml" Id="R73c2c1e123f9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0e1d36338464c" /><Relationship Type="http://schemas.openxmlformats.org/officeDocument/2006/relationships/image" Target="/ppt/media/image6.jpeg" Id="Ref11460764a342b6" /><Relationship Type="http://schemas.openxmlformats.org/officeDocument/2006/relationships/notesSlide" Target="/ppt/notesSlides/notesSlide4.xml" Id="R08456f94dfca43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32abb6710454e" /><Relationship Type="http://schemas.openxmlformats.org/officeDocument/2006/relationships/notesSlide" Target="/ppt/notesSlides/notesSlide5.xml" Id="R655749665f9b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0a7f0a7a74753" /><Relationship Type="http://schemas.openxmlformats.org/officeDocument/2006/relationships/image" Target="/ppt/media/image7.jpeg" Id="R1903af27332f42b3" /><Relationship Type="http://schemas.openxmlformats.org/officeDocument/2006/relationships/notesSlide" Target="/ppt/notesSlides/notesSlide6.xml" Id="Rec1fc25bdb6545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e4ce993664771" /><Relationship Type="http://schemas.openxmlformats.org/officeDocument/2006/relationships/image" Target="/ppt/media/image8.jpeg" Id="R62b4561f62ac4c63" /><Relationship Type="http://schemas.openxmlformats.org/officeDocument/2006/relationships/notesSlide" Target="/ppt/notesSlides/notesSlide7.xml" Id="R6dd28affd03142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ff9f05d9241be" /><Relationship Type="http://schemas.openxmlformats.org/officeDocument/2006/relationships/notesSlide" Target="/ppt/notesSlides/notesSlide8.xml" Id="R831c3dbb601a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65DCC-C8E4-4169-92F8-4557564E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CA0A1-56D4-4787-8CCB-1E21A0E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E0D3"/>
                </a:solidFill>
              </a:defRPr>
            </a:pPr>
            <a:r>
              <a:rPr sz="1500" b="1">
                <a:solidFill>
                  <a:srgbClr val="74E0D3"/>
                </a:solidFill>
              </a:rPr>
              <a:t>NCDs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67727-7CBB-4553-B6A7-BFD0AD48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คัดกรอง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ดูแล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ติดตาม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E8F53-D315-4B5D-8525-346A87BB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BF4"/>
                </a:solidFill>
              </a:defRPr>
            </a:pPr>
            <a:r>
              <a:rPr sz="1650" b="0">
                <a:solidFill>
                  <a:srgbClr val="DDEBF4"/>
                </a:solidFill>
              </a:rPr>
              <a:t>ระบบคัดกรองโรคไม่ติดต่อเรื้อรังเชิงรุก</a:t>
            </a:r>
          </a:p>
          <a:p xmlns:a="http://schemas.openxmlformats.org/drawingml/2006/main">
            <a:pPr algn="l">
              <a:defRPr sz="1650" b="0">
                <a:solidFill>
                  <a:srgbClr val="DDEBF4"/>
                </a:solidFill>
              </a:defRPr>
            </a:pPr>
            <a:r>
              <a:rPr sz="1650" b="0">
                <a:solidFill>
                  <a:srgbClr val="DDEBF4"/>
                </a:solidFill>
              </a:rPr>
              <a:t>สำหรับการทำงานของ อสม. และเจ้าหน้าที่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6BFE0-6E6F-4F0A-871C-78A754D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E0D3"/>
                </a:solidFill>
              </a:defRPr>
            </a:pPr>
            <a:r>
              <a:rPr sz="1800" b="1">
                <a:solidFill>
                  <a:srgbClr val="74E0D3"/>
                </a:solidFill>
              </a:rPr>
              <a:t>Simple &amp; Easy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edb8f03034ef9"/>
          <a:srcRect xmlns:a="http://schemas.openxmlformats.org/drawingml/2006/main" l="14044" t="0" r="140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704850"/>
            <a:ext cx="62103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47266-5EDE-46B9-B092-DDAC3E3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810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ระบบคัดกรอง NCDs Portal • อำเภอตาลสุม จังหวัดอุบลราชธานี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1A63B-72B2-4F56-8044-611EE450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12457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พัฒนาโดย นายบุญธรรม พันธ์ใหญ่ • นักวิชาการคอมพิวเตอร์</a:t>
            </a:r>
          </a:p>
        </p:txBody>
      </p:sp>
    </p:spTree>
    <p:extLst>
      <p:ext uri="{BB962C8B-B14F-4D97-AF65-F5344CB8AC3E}">
        <p14:creationId xmlns:p14="http://schemas.microsoft.com/office/powerpoint/2010/main" val="2101322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81079-C959-45CE-B1C1-6B64B296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ภาพรวมระบบ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3681-0FC7-4694-B583-3BBA3254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ระบบเดียว เชื่อมงานคัดกรองตั้งแต่บ้านถึงผู้บริหาร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569B8-8438-4CAA-A999-883E7A85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บทบาทที่ต่างกัน ใช้ข้อมูลเดียวกันในงานของตน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DC78D-5397-4EA8-9F5E-8BA2DBF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32194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a2199e1164b1e"/>
          <a:srcRect xmlns:a="http://schemas.openxmlformats.org/drawingml/2006/main" l="0" t="9357" r="0" b="9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181225"/>
            <a:ext cx="2914650" cy="1333500"/>
          </a:xfrm>
          <a:prstGeom xmlns:a="http://schemas.openxmlformats.org/drawingml/2006/main" prst="roundRect">
            <a:avLst>
              <a:gd name="adj" fmla="val 857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C132-146E-4A34-8E38-E7CC9B0A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อสม.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F95D0-EEFB-4CB9-9706-E8D968CE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รับงาน • ลงพื้นที่</a:t>
            </a:r>
          </a:p>
          <a:p xmlns:a="http://schemas.openxmlformats.org/drawingml/2006/main">
            <a:pPr algn="l"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คัดกรอง • ส่งผล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8B0D9-D4D4-42EE-B2EA-B5962E6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</a:defRPr>
            </a:pPr>
            <a:r>
              <a:rPr sz="1125" b="1">
                <a:solidFill>
                  <a:srgbClr val="008C95"/>
                </a:solidFill>
              </a:rPr>
              <a:t>ลงมือทำในพื้นที่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1E5A0-1D91-4180-A4A7-FBDF541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28825"/>
            <a:ext cx="32194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61f43cbda4682"/>
          <a:srcRect xmlns:a="http://schemas.openxmlformats.org/drawingml/2006/main" l="0" t="9357" r="0" b="9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5325" y="2181225"/>
            <a:ext cx="2914650" cy="1333500"/>
          </a:xfrm>
          <a:prstGeom xmlns:a="http://schemas.openxmlformats.org/drawingml/2006/main" prst="roundRect">
            <a:avLst>
              <a:gd name="adj" fmla="val 857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B1BAC-182E-4AA6-B5D1-31A6691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เจ้าหน้าที่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4EEF6-CE09-426C-BC30-955C6F14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9575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กำหนดเป้าหมาย • มอบหมาย</a:t>
            </a:r>
          </a:p>
          <a:p xmlns:a="http://schemas.openxmlformats.org/drawingml/2006/main">
            <a:pPr algn="l"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ติดตาม • ตรวจสอบ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EEAB9-5043-4BCD-950F-2D39CB6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9053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</a:defRPr>
            </a:pPr>
            <a:r>
              <a:rPr sz="1125" b="1">
                <a:solidFill>
                  <a:srgbClr val="008C95"/>
                </a:solidFill>
              </a:rPr>
              <a:t>เห็นภาพรวมและจัดการงาน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5626F-2C17-487E-82A8-5EEC7034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28825"/>
            <a:ext cx="32194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36378b228411e"/>
          <a:srcRect xmlns:a="http://schemas.openxmlformats.org/drawingml/2006/main" l="0" t="9357" r="0" b="9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2181225"/>
            <a:ext cx="2914650" cy="1333500"/>
          </a:xfrm>
          <a:prstGeom xmlns:a="http://schemas.openxmlformats.org/drawingml/2006/main" prst="roundRect">
            <a:avLst>
              <a:gd name="adj" fmla="val 8571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8A339-509A-4E32-8116-91782108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ประชาชน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5D826-4EA4-4BF6-B856-8EB76B8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ประเมินตนเองเบื้องต้น</a:t>
            </a:r>
          </a:p>
          <a:p xmlns:a="http://schemas.openxmlformats.org/drawingml/2006/main">
            <a:pPr algn="l"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รับคำแนะนำทันที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9EA31-026D-43F0-ADBD-34A16B4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053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</a:defRPr>
            </a:pPr>
            <a:r>
              <a:rPr sz="1125" b="1">
                <a:solidFill>
                  <a:srgbClr val="008C95"/>
                </a:solidFill>
              </a:rPr>
              <a:t>เริ่มดูแลสุขภาพได้เอง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10274-5D8A-47E0-91B1-8EA3490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6473A-C525-41BE-8BB4-CF1A29BD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5845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9F588-06E1-4381-8A73-C5015375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งานภาคสนาม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5BE27-B24F-4050-B63F-3606BF0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เปลี่ยนงานคัดกรองให้เป็นรายการที่ทำได้ทันที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B1365-1645-4EFA-ADA3-8B7DC6D4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อสม. เห็นงานค้าง รายบ้าน และเข้าสู่แบบคัดกรองจากรายการงานหรือ QR Code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856a5df9d4e6a"/>
          <a:srcRect xmlns:a="http://schemas.openxmlformats.org/drawingml/2006/main" l="9350" t="0" r="93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5572125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C729F-B3B2-4D46-8A25-612952E4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BE709-0D77-4781-ADC9-56AA0B8D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8C95"/>
                </a:solidFill>
              </a:defRPr>
            </a:pPr>
            <a:r>
              <a:rPr sz="1950" b="1">
                <a:solidFill>
                  <a:srgbClr val="008C9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18B71-58CB-41C6-B57B-815A3821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19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รับงานรายบ้าน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FE272-BDB0-47E7-92F9-E46B8381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เห็นผู้รับคัดกรองและสิทธิ์ที่ต้องตรวจ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312D4-C683-4B17-AE8F-C51F7473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74564-BB19-48B6-9A69-22BDF427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8C95"/>
                </a:solidFill>
              </a:defRPr>
            </a:pPr>
            <a:r>
              <a:rPr sz="1950" b="1">
                <a:solidFill>
                  <a:srgbClr val="008C9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4EB6D-DFB7-4505-8AF4-DAC8A3D4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สแกน QR เพื่อลดขั้นตอน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594CB-DC65-41AB-A689-58A7144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8142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รองรับการทดสอบเคสปกติและเคสล็อกสิทธิ์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E1416-2624-4994-A1FF-7E94F7EB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3A414-6CDA-4D05-87A3-F96263C9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339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8C95"/>
                </a:solidFill>
              </a:defRPr>
            </a:pPr>
            <a:r>
              <a:rPr sz="1950" b="1">
                <a:solidFill>
                  <a:srgbClr val="008C9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47A01-4A6F-4628-93B0-52C6A7A5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767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ติดตามงานที่ยังไม่เสร็จ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6637B-444E-44CE-A1A6-4077DC81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0150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แยกงานค้าง งาน DPAC และงานเสร็จสิ้น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6B195-594C-458E-8633-A191F87B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CE5CF-D0D0-4A3B-BF65-1C4ABA59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4715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F70F0-6695-4974-9EF0-22B14190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กำกับงาน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8A6BC-07D1-4849-8E16-FA8F75D9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แดชบอร์ดเห็นทั้งความคืบหน้าและจุดที่ต้องติดตาม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D63B7-0DC5-4FFD-94E9-05D0058C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สรุปงานคัดกรองรายรอบ แยกพื้นที่ และเจาะไปยังรายการล่าสุดได้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1460764a342b6"/>
          <a:srcRect xmlns:a="http://schemas.openxmlformats.org/drawingml/2006/main" l="1359" t="0" r="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66675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EEAFF-E811-4C81-9D30-56C02A73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สิ่งที่เจ้าหน้าที่เห็นได้จากหน้าเดียว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EF4B7-A248-4579-9D84-1F4CF20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429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18425-52E7-4031-B042-CE45A4AC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ความครอบคลุม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BBA93-661D-47E2-B587-69BDFBE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955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เป้าหมายและผลคัดกรอง แยกกลุ่มโรค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F0E0E-8EE4-43A5-8559-7052C74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3429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9CA27-5E3C-4448-BFA6-4F2FA918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การติดตามซ้ำ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A91C7-60D5-4103-A9E7-9D7D6EF8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766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ผลรอบ 1, รอบ 2 และรอบต่อเนื่อง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D7844-A265-4993-84E4-1D9D1F0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3429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13064-1B32-4FDF-8B34-A4072638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ความเสี่ยง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81F34-4DD2-4D14-A405-6AC1598C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576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แยกปกติ กลุ่มเสี่ยง และสงสัยป่วย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BAF5E-E156-45BC-A669-20A7348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3429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FED03-F9AF-4345-8FD7-0E56714E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96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ความเคลื่อนไหว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90577-2B62-461B-8D39-1A66066B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387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แนวโน้มรายวันและผลคัดกรองล่าสุด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DCB6B-907F-447F-9072-2018CD08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877D6-7A46-4F24-9769-5665FB11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937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D4526-68DD-4357-A7D1-6A36A249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เครื่องมือผู้ดูแล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021C7-DD59-43FA-BD49-F050C63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จากทะเบียนเป้าหมาย สู่การมอบหมายและติดตามผล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00C3A-DCFD-4DD8-B8E7-F5342AC5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ฟังก์ชันผู้ดูแลจัดเป็นสายงานต่อเนื่อง ไม่ใช่เพียงหน้ารายงาน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8CED1-7C7B-4B8F-AC95-1CB04244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0C9E4-F8BE-4809-97A7-9CF1A640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E0D3"/>
                </a:solidFill>
              </a:defRPr>
            </a:pPr>
            <a:r>
              <a:rPr sz="2100" b="1">
                <a:solidFill>
                  <a:srgbClr val="74E0D3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7752A-AA84-4F24-ADD0-BBC7C03C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จัดการเป้าหมาย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5AA30-BAA0-4A64-9053-B3FBCE50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BF4"/>
                </a:solidFill>
              </a:defRPr>
            </a:pPr>
            <a:r>
              <a:rPr sz="1275" b="0">
                <a:solidFill>
                  <a:srgbClr val="DDEBF4"/>
                </a:solidFill>
              </a:rPr>
              <a:t>ประชากรเป้าหมาย • หน่วยบริการ • บ้าน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3C21E-65D2-4CCE-982D-C34A007C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14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E0D3"/>
                </a:solidFill>
              </a:defRPr>
            </a:pPr>
            <a:r>
              <a:rPr sz="1800" b="1">
                <a:solidFill>
                  <a:srgbClr val="74E0D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3BE39-F1FD-46D0-BC1A-7C6F565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6009F-06EE-46AE-84D5-CC8333B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E0D3"/>
                </a:solidFill>
              </a:defRPr>
            </a:pPr>
            <a:r>
              <a:rPr sz="2100" b="1">
                <a:solidFill>
                  <a:srgbClr val="74E0D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E5957-A0DC-4EEA-BE9E-A07AEAC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813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มอบหมายงาน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37E93-DDC5-49AD-95AB-85AC2388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BF4"/>
                </a:solidFill>
              </a:defRPr>
            </a:pPr>
            <a:r>
              <a:rPr sz="1275" b="0">
                <a:solidFill>
                  <a:srgbClr val="DDEBF4"/>
                </a:solidFill>
              </a:rPr>
              <a:t>จัดการ อสม. • QR Code • ตรวจงาน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8DF41-31E4-4839-879F-868C01DC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14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E0D3"/>
                </a:solidFill>
              </a:defRPr>
            </a:pPr>
            <a:r>
              <a:rPr sz="1800" b="1">
                <a:solidFill>
                  <a:srgbClr val="74E0D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9954D-7053-4941-83B1-34B6F92C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9CAA9-0D0F-4EF1-B44D-66195604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E0D3"/>
                </a:solidFill>
              </a:defRPr>
            </a:pPr>
            <a:r>
              <a:rPr sz="2100" b="1">
                <a:solidFill>
                  <a:srgbClr val="74E0D3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7AAE8-C55E-426C-80B1-9CFB1E85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ดำเนินงาน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A2A13-6936-40D1-B89C-337DDB0C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BF4"/>
                </a:solidFill>
              </a:defRPr>
            </a:pPr>
            <a:r>
              <a:rPr sz="1275" b="0">
                <a:solidFill>
                  <a:srgbClr val="DDEBF4"/>
                </a:solidFill>
              </a:rPr>
              <a:t>คัดกรอง • DPAC • เคสวิกฤตและส่งต่อ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8A107-C44F-47B3-9FCA-2201EC21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14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E0D3"/>
                </a:solidFill>
              </a:defRPr>
            </a:pPr>
            <a:r>
              <a:rPr sz="1800" b="1">
                <a:solidFill>
                  <a:srgbClr val="74E0D3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33150-276C-4DA0-90FF-C0B7F480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5E9A3-BF81-4D20-B588-E64FE84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E0D3"/>
                </a:solidFill>
              </a:defRPr>
            </a:pPr>
            <a:r>
              <a:rPr sz="2100" b="1">
                <a:solidFill>
                  <a:srgbClr val="74E0D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0ACEF-E9DD-4282-9741-8FE0CB0D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813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วิเคราะห์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7B26F-4019-44FB-9573-73400E3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BF4"/>
                </a:solidFill>
              </a:defRPr>
            </a:pPr>
            <a:r>
              <a:rPr sz="1275" b="0">
                <a:solidFill>
                  <a:srgbClr val="DDEBF4"/>
                </a:solidFill>
              </a:rPr>
              <a:t>สถิติสุขภาพ • รายงาน 6 มิติ • การพิมพ์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59A3D-8AC1-4A0C-A550-35FC031C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4"/>
                </a:solidFill>
              </a:defRPr>
            </a:pPr>
            <a:r>
              <a:rPr sz="1350" b="0">
                <a:solidFill>
                  <a:srgbClr val="DDEBF4"/>
                </a:solidFill>
              </a:rPr>
              <a:t>เมนูระบบยังมีการซิงค์ฐานข้อมูล JHCIS • ศูนย์ข้อความ/ประกาศ • บันทึกความปลอดภัย • จัดการปีงบประมาณ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F9FC6-8FF4-41FA-9C66-64D3CF34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BF4"/>
                </a:solidFill>
              </a:defRPr>
            </a:pPr>
            <a:r>
              <a:rPr sz="900" b="0">
                <a:solidFill>
                  <a:srgbClr val="DDEBF4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C3218-8C27-4902-824E-30F75329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E0D3"/>
                </a:solidFill>
              </a:defRPr>
            </a:pPr>
            <a:r>
              <a:rPr sz="1050" b="1">
                <a:solidFill>
                  <a:srgbClr val="74E0D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0749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28F64-A519-4F13-93A5-1DCAECCB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ข้อมูลบนแผนที่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DF4DA-0D76-497A-895A-7A5587E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เห็นการกระจุกตัวของกลุ่มเสี่ยงตามพื้นที่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5D984-D0D8-450A-82EF-8DF37ED9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แผนที่กลุ่มเสี่ยงสามารถกรองตามระดับความเสี่ยงและเขตรับผิดชอบ รพ.สต.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3af27332f42b3"/>
          <a:srcRect xmlns:a="http://schemas.openxmlformats.org/drawingml/2006/main" l="4833" t="0" r="4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85950"/>
            <a:ext cx="619125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9371B-AC51-46F0-86C5-A82CB494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85762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AEDD5-B93D-45FB-B36C-F5CAD860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กรองกลุ่มเสี่ยง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3B3E9-DD3D-47C5-98EC-963AFD9E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431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ทั้งหมด • เสี่ยงสูง • เสี่ยงปานกลาง • ปกติ/ยังไม่คัดกรอง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8F193-F2CA-4DBA-BD21-2CE216C8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385762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640F-02EC-4C66-81B8-6E3F3E1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4327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กรองเขตรับผิดชอบ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BCAA5-521B-4686-A335-6F49078C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เลือกดูเป็นราย รพ.สต. เพื่อกำกับพื้นที่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BC339-E677-47D3-9A86-4A6BE57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5762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FEE0B-1D32-4476-BAC9-CD2A6988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57700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ใช้ประกอบการลงพื้นที่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F52FC-4A00-42E4-93E1-A95D9386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720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ช่วยระบุบริเวณที่ควรติดตามหรือทบทวนงาน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027AD-0022-49AD-A96A-6B83843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CD11F-7C5D-4A51-A30E-0D510FA2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0257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63976-757A-427C-ADE8-9D4AF210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เริ่มที่ประชาชน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A2521-4DFC-48BE-AE50-3033F8E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ประเมินสุขภาพเบื้องต้นได้เอง โดยไม่ต้องให้ข้อมูลส่วนตัว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35623-FE50-4FCE-A73B-FA9BA7D3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แบบประเมินสั้นและให้คำแนะนำทันที เหมาะเป็นจุดเริ่มต้นก่อนเข้าสู่การดูแลของพื้นที่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4561f62ac4c63"/>
          <a:srcRect xmlns:a="http://schemas.openxmlformats.org/drawingml/2006/main" l="9697" t="0" r="96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55245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57B79-E819-4C00-A2A4-6745520F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859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24BF2-01ED-4343-8CF8-40325884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57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ไม่ขอชื่อหรือเลขบัตร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1117E-F240-477B-A5BE-2845ED67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ไม่ต้องกรอกชื่อ–นามสกุล เลขบัตร เบอร์โทร หรือที่อยู่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F553D-CB5D-48BE-9026-6679ABA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6A5B"/>
                </a:solidFill>
              </a:defRPr>
            </a:pPr>
            <a:r>
              <a:rPr sz="1350" b="1">
                <a:solidFill>
                  <a:srgbClr val="EF6A5B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A03D9-CA9B-4DEC-AE84-445E048E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ประเมิน 10 ข้อ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8AD78-74EC-4674-8AD7-3271313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ระบบระบุว่าใช้เวลาประมาณ 1 นาทีและเห็นผลทันที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0ECAA-0422-4BB0-B4D5-6174CD1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957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CD95D-343E-43F6-811A-C5C8D45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คำแนะนำรายบุคคล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04AC7-468B-4DA4-8BC1-8CA8FAF0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29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สรุปพฤติกรรม 3อ. 2ส. 1น. และมี Voice 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29615-647E-4A54-9100-70FB46D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BC22D-FF4C-45C9-A3E8-23D87AE3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1672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C3057-4929-4E58-890B-B4F75977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NCDs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F190-C8D7-4B3A-BBFA-9A2C1D41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28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ระบบที่เริ่มจากงานในพื้นที่</a:t>
            </a:r>
          </a:p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และต่อยอดสู่การกำกับภาพรวมได้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7EF43-CFC2-49B6-B02D-470A377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B7A"/>
                </a:solidFill>
              </a:defRPr>
            </a:pPr>
            <a:r>
              <a:rPr sz="1650" b="0">
                <a:solidFill>
                  <a:srgbClr val="5C6B7A"/>
                </a:solidFill>
              </a:rPr>
              <a:t>อสม. ทำงานรายบ้าน • เจ้าหน้าที่เห็นความคืบหน้า • ประชาชนเริ่มประเมินสุขภาพได้เอง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C5ECE-2838-4308-9D82-7214434F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FCF20-22CD-4DB8-97DD-82AFC94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8C95"/>
                </a:solidFill>
              </a:defRPr>
            </a:pPr>
            <a:r>
              <a:rPr sz="1650" b="1">
                <a:solidFill>
                  <a:srgbClr val="008C95"/>
                </a:solidFill>
              </a:rPr>
              <a:t>เครดิตการพัฒนาระบบ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1AA8A-1182-4E77-BD51-D378846A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นายบุญธรรม พันธ์ใหญ่  |  นักวิชาการคอมพิวเตอร์  |  สำนักงานสาธารณสุขอำเภอตาลสุม จังหวัดอุบลราชธานี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D2FA3-BD3C-40D6-BD7A-28681083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เวอร์ชันที่แสดงบนเว็บไซต์: v2.0 (Stable Version 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755D4-7D42-4DA7-826C-EAA6B78C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C95"/>
                </a:solidFill>
              </a:defRPr>
            </a:pPr>
            <a:r>
              <a:rPr sz="2025" b="1">
                <a:solidFill>
                  <a:srgbClr val="008C95"/>
                </a:solidFill>
              </a:rPr>
              <a:t>ncd.ssotansum.com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EEEC0-4DF2-4D44-92FD-E3D78037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55C48-8F1D-410D-BAFF-5433115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3007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2026-08-23T19:35:35.4960000Z</dcterms:created>
  <dcterms:modified xsi:type="dcterms:W3CDTF">2026-08-23T19:35:35.4960000Z</dcterms:modified>
</coreProperties>
</file>