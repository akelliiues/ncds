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eb3fe1192024eee" /><Relationship Type="http://schemas.openxmlformats.org/officeDocument/2006/relationships/extended-properties" Target="/docProps/app.xml" Id="Ra267424d61314c5e" /><Relationship Type="http://schemas.openxmlformats.org/officeDocument/2006/relationships/officeDocument" Target="/ppt/presentation.xml" Id="R3775a5c14dd64e3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b5514394e0841a0"/>
  </p:sldMasterIdLst>
  <p:notesMasterIdLst>
    <p:notesMasterId xmlns:r="http://schemas.openxmlformats.org/officeDocument/2006/relationships" r:id="Rb922141c65544312"/>
  </p:notesMasterIdLst>
  <p:sldIdLst>
    <p:sldId xmlns:r="http://schemas.openxmlformats.org/officeDocument/2006/relationships" id="256" r:id="Rdcb6e0c788f2416d"/>
    <p:sldId xmlns:r="http://schemas.openxmlformats.org/officeDocument/2006/relationships" id="257" r:id="Rc773e5fc3d1b44aa"/>
    <p:sldId xmlns:r="http://schemas.openxmlformats.org/officeDocument/2006/relationships" id="258" r:id="Re0a71956522b4cbe"/>
    <p:sldId xmlns:r="http://schemas.openxmlformats.org/officeDocument/2006/relationships" id="259" r:id="Rc08c656ddcc24e10"/>
    <p:sldId xmlns:r="http://schemas.openxmlformats.org/officeDocument/2006/relationships" id="260" r:id="R7467910213724085"/>
    <p:sldId xmlns:r="http://schemas.openxmlformats.org/officeDocument/2006/relationships" id="261" r:id="R6b476357885a45e8"/>
    <p:sldId xmlns:r="http://schemas.openxmlformats.org/officeDocument/2006/relationships" id="262" r:id="R62da915f88384003"/>
    <p:sldId xmlns:r="http://schemas.openxmlformats.org/officeDocument/2006/relationships" id="263" r:id="Ra144b083271b49a0"/>
    <p:sldId xmlns:r="http://schemas.openxmlformats.org/officeDocument/2006/relationships" id="264" r:id="R70a6b39aa7f94556"/>
    <p:sldId xmlns:r="http://schemas.openxmlformats.org/officeDocument/2006/relationships" id="265" r:id="Rf9454dfa29364aa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919e6c34d9f419b" /><Relationship Type="http://schemas.openxmlformats.org/officeDocument/2006/relationships/slideMaster" Target="/ppt/slideMasters/slideMaster1.xml" Id="R2b5514394e0841a0" /><Relationship Type="http://schemas.openxmlformats.org/officeDocument/2006/relationships/notesMaster" Target="/ppt/notesMasters/notesMaster1.xml" Id="Rb922141c65544312" /><Relationship Type="http://schemas.openxmlformats.org/officeDocument/2006/relationships/presProps" Target="/ppt/presProps.xml" Id="R67818a95b1304997" /><Relationship Type="http://schemas.openxmlformats.org/officeDocument/2006/relationships/tableStyles" Target="/ppt/tableStyles.xml" Id="Rc2f2c56e15eb423b" /><Relationship Type="http://schemas.openxmlformats.org/officeDocument/2006/relationships/slide" Target="/ppt/slides/slide1.xml" Id="Rdcb6e0c788f2416d" /><Relationship Type="http://schemas.openxmlformats.org/officeDocument/2006/relationships/slide" Target="/ppt/slides/slide2.xml" Id="Rc773e5fc3d1b44aa" /><Relationship Type="http://schemas.openxmlformats.org/officeDocument/2006/relationships/slide" Target="/ppt/slides/slide3.xml" Id="Re0a71956522b4cbe" /><Relationship Type="http://schemas.openxmlformats.org/officeDocument/2006/relationships/slide" Target="/ppt/slides/slide4.xml" Id="Rc08c656ddcc24e10" /><Relationship Type="http://schemas.openxmlformats.org/officeDocument/2006/relationships/slide" Target="/ppt/slides/slide5.xml" Id="R7467910213724085" /><Relationship Type="http://schemas.openxmlformats.org/officeDocument/2006/relationships/slide" Target="/ppt/slides/slide6.xml" Id="R6b476357885a45e8" /><Relationship Type="http://schemas.openxmlformats.org/officeDocument/2006/relationships/slide" Target="/ppt/slides/slide7.xml" Id="R62da915f88384003" /><Relationship Type="http://schemas.openxmlformats.org/officeDocument/2006/relationships/slide" Target="/ppt/slides/slide8.xml" Id="Ra144b083271b49a0" /><Relationship Type="http://schemas.openxmlformats.org/officeDocument/2006/relationships/slide" Target="/ppt/slides/slide9.xml" Id="R70a6b39aa7f94556" /><Relationship Type="http://schemas.openxmlformats.org/officeDocument/2006/relationships/slide" Target="/ppt/slides/slide10.xml" Id="Rf9454dfa29364aa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65b6df6855b49a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e0889f3c4da4ae3" /><Relationship Type="http://schemas.openxmlformats.org/officeDocument/2006/relationships/notesMaster" Target="/ppt/notesMasters/notesMaster1.xml" Id="R50e5a4062bd5403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657cbc2c7324d20" /><Relationship Type="http://schemas.openxmlformats.org/officeDocument/2006/relationships/notesMaster" Target="/ppt/notesMasters/notesMaster1.xml" Id="R36df9b90defd4ba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dc2995b612b4ed1" /><Relationship Type="http://schemas.openxmlformats.org/officeDocument/2006/relationships/notesMaster" Target="/ppt/notesMasters/notesMaster1.xml" Id="Rce8ba935ae68403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b208b48bdd040a3" /><Relationship Type="http://schemas.openxmlformats.org/officeDocument/2006/relationships/notesMaster" Target="/ppt/notesMasters/notesMaster1.xml" Id="R9b03fb8f6fbb47c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b21670a3adf478b" /><Relationship Type="http://schemas.openxmlformats.org/officeDocument/2006/relationships/notesMaster" Target="/ppt/notesMasters/notesMaster1.xml" Id="R35a9b05f219a483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2bba43eceba480a" /><Relationship Type="http://schemas.openxmlformats.org/officeDocument/2006/relationships/notesMaster" Target="/ppt/notesMasters/notesMaster1.xml" Id="Rcfb6eb2f1cac4d3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4b096df5343433d" /><Relationship Type="http://schemas.openxmlformats.org/officeDocument/2006/relationships/notesMaster" Target="/ppt/notesMasters/notesMaster1.xml" Id="Re9c2b245d0b640a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e8c8595f9a0484f" /><Relationship Type="http://schemas.openxmlformats.org/officeDocument/2006/relationships/notesMaster" Target="/ppt/notesMasters/notesMaster1.xml" Id="R43c3bace5cff4c5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f27968f2edc4902" /><Relationship Type="http://schemas.openxmlformats.org/officeDocument/2006/relationships/notesMaster" Target="/ppt/notesMasters/notesMaster1.xml" Id="R5ca96bc936b94c8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badf2b4b8e3409a" /><Relationship Type="http://schemas.openxmlformats.org/officeDocument/2006/relationships/notesMaster" Target="/ppt/notesMasters/notesMaster1.xml" Id="R511a9f2cca6541a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D:/_Site/ssotansum/ncd/assets/infographics/NCDs_Smart_Health_Suite_6_Pillars.png; https://ncd.ssotansum.com/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https://ncd.ssotansum.com/index.php?demo_role=vhv; https://ncd.ssotansum.com/index.php?demo_role=staff; https://ncd.ssotansum.com/self_screening.php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D:/_Site/ssotansum/ncd/assets/infographics/NCDs_Smart_Health_Suite_6_Pillars.png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https://ncd.ssotansum.com/index.php?demo_role=vhv — Virtual Mode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https://ncd.ssotansum.com/index.php?demo_role=staff — เมนู “เคสวิกฤต &amp; ส่งต่อ” และ “Red Alert Station”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https://ncd.ssotansum.com/vhv/leaderboard.php; local source: vhv/leaderboard.php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https://ncd.ssotansum.com/index.php?demo_role=staff — Multi-Round Re-screening Performance และเมนู DPAC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https://ncd.ssotansum.com/index.php?demo_role=staff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https://ncd.ssotansum.com/index.php?demo_role=staff — เมนูจัดการระบบ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https://ncd.ssotansum.com/ — ข้อมูลผู้พัฒนาและเว็บไซต์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ad9699f13e437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69d85aa14a34d17" /><Relationship Type="http://schemas.openxmlformats.org/officeDocument/2006/relationships/slideLayout" Target="/ppt/slideLayouts/slideLayout1.xml" Id="R623d384a48e24fd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23d384a48e24fd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12a619a9194238" /><Relationship Type="http://schemas.openxmlformats.org/officeDocument/2006/relationships/image" Target="/ppt/media/image.png" Id="R94c244adc1504a00" /><Relationship Type="http://schemas.openxmlformats.org/officeDocument/2006/relationships/notesSlide" Target="/ppt/notesSlides/notesSlide1.xml" Id="R4583e36fe7104a4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7bde23dd3241e6" /><Relationship Type="http://schemas.openxmlformats.org/officeDocument/2006/relationships/image" Target="/ppt/media/image.jpeg" Id="R9524a9180db64462" /><Relationship Type="http://schemas.openxmlformats.org/officeDocument/2006/relationships/image" Target="/ppt/media/image2.jpeg" Id="R719bb2a5cc3c401f" /><Relationship Type="http://schemas.openxmlformats.org/officeDocument/2006/relationships/image" Target="/ppt/media/image3.jpeg" Id="R8a1cd16cf9db49a7" /><Relationship Type="http://schemas.openxmlformats.org/officeDocument/2006/relationships/notesSlide" Target="/ppt/notesSlides/notesSlide2.xml" Id="R8dd9644b26b44f3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6fcf72e9a742f2" /><Relationship Type="http://schemas.openxmlformats.org/officeDocument/2006/relationships/image" Target="/ppt/media/image2.png" Id="R497c8a2ea0be473f" /><Relationship Type="http://schemas.openxmlformats.org/officeDocument/2006/relationships/notesSlide" Target="/ppt/notesSlides/notesSlide3.xml" Id="Rccea2d78821e4ca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b85f1dd9094e9a" /><Relationship Type="http://schemas.openxmlformats.org/officeDocument/2006/relationships/image" Target="/ppt/media/image4.jpeg" Id="R4b1870d25d4744bd" /><Relationship Type="http://schemas.openxmlformats.org/officeDocument/2006/relationships/notesSlide" Target="/ppt/notesSlides/notesSlide4.xml" Id="R933e1274daa7482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236783da194eea" /><Relationship Type="http://schemas.openxmlformats.org/officeDocument/2006/relationships/notesSlide" Target="/ppt/notesSlides/notesSlide5.xml" Id="R197b8e323bb54dd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1c513408a64cc8" /><Relationship Type="http://schemas.openxmlformats.org/officeDocument/2006/relationships/image" Target="/ppt/media/image5.jpeg" Id="Rda837aefb54c4b27" /><Relationship Type="http://schemas.openxmlformats.org/officeDocument/2006/relationships/notesSlide" Target="/ppt/notesSlides/notesSlide6.xml" Id="R44982d9ecf114cb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cf6feb994d4e47" /><Relationship Type="http://schemas.openxmlformats.org/officeDocument/2006/relationships/image" Target="/ppt/media/image6.jpeg" Id="R18e246ec41304d1b" /><Relationship Type="http://schemas.openxmlformats.org/officeDocument/2006/relationships/notesSlide" Target="/ppt/notesSlides/notesSlide7.xml" Id="R2f7e98ab20694a5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46713c79fd4075" /><Relationship Type="http://schemas.openxmlformats.org/officeDocument/2006/relationships/image" Target="/ppt/media/image7.jpeg" Id="R026a7193af044529" /><Relationship Type="http://schemas.openxmlformats.org/officeDocument/2006/relationships/notesSlide" Target="/ppt/notesSlides/notesSlide8.xml" Id="R75cc74d5d3ed414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d5300fc2594b7b" /><Relationship Type="http://schemas.openxmlformats.org/officeDocument/2006/relationships/notesSlide" Target="/ppt/notesSlides/notesSlide9.xml" Id="Ra6c6af1cb20e49c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7f7603a3a64a5a" /><Relationship Type="http://schemas.openxmlformats.org/officeDocument/2006/relationships/notesSlide" Target="/ppt/notesSlides/notesSlide10.xml" Id="R759253c345944dd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AFEF0E-66E1-4D69-85A7-F059A5AD2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476750" cy="6858000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123454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C80D87-7B17-4719-8AFC-807D74343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6DED4"/>
                </a:solidFill>
              </a:defRPr>
            </a:pPr>
            <a:r>
              <a:rPr sz="1425" b="1">
                <a:solidFill>
                  <a:srgbClr val="76DED4"/>
                </a:solidFill>
              </a:rPr>
              <a:t>NCDs PORTAL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23786B-6085-4EC4-8503-815CBB4D2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36671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ระบบปฏิบัติการ</a:t>
            </a:r>
          </a:p>
          <a:p xmlns:a="http://schemas.openxmlformats.org/drawingml/2006/main">
            <a:pPr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สุขภาพชุมชน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CCDF87-F1F2-4E8F-A256-E9DD79E3E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24250"/>
            <a:ext cx="314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D7E8F1"/>
                </a:solidFill>
              </a:defRPr>
            </a:pPr>
            <a:r>
              <a:rPr sz="1650" b="0">
                <a:solidFill>
                  <a:srgbClr val="D7E8F1"/>
                </a:solidFill>
              </a:rPr>
              <a:t>คัดกรอง • ดูแล • ติดตาม</a:t>
            </a:r>
          </a:p>
          <a:p xmlns:a="http://schemas.openxmlformats.org/drawingml/2006/main">
            <a:pPr>
              <a:defRPr sz="1650" b="0">
                <a:solidFill>
                  <a:srgbClr val="D7E8F1"/>
                </a:solidFill>
              </a:defRPr>
            </a:pPr>
            <a:r>
              <a:rPr sz="1650" b="0">
                <a:solidFill>
                  <a:srgbClr val="D7E8F1"/>
                </a:solidFill>
              </a:rPr>
              <a:t>จากงานรายบ้านสู่การกำกับข้อมูล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E3B37D-6946-4B43-8162-C992FFABB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7687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76DED4"/>
                </a:solidFill>
              </a:defRPr>
            </a:pPr>
            <a:r>
              <a:rPr sz="1875" b="1">
                <a:solidFill>
                  <a:srgbClr val="76DED4"/>
                </a:solidFill>
              </a:rPr>
              <a:t>Simple &amp; Easy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c244adc1504a00"/>
          <a:srcRect xmlns:a="http://schemas.openxmlformats.org/drawingml/2006/main" l="11697" t="0" r="1169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53000" y="590550"/>
            <a:ext cx="6667500" cy="4895850"/>
          </a:xfrm>
          <a:prstGeom xmlns:a="http://schemas.openxmlformats.org/drawingml/2006/main" prst="roundRect">
            <a:avLst>
              <a:gd name="adj" fmla="val 2335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5D1014-8E49-4E5C-9A49-3CC31F4DA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810250"/>
            <a:ext cx="590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8F95"/>
                </a:solidFill>
              </a:defRPr>
            </a:pPr>
            <a:r>
              <a:rPr sz="1350" b="1">
                <a:solidFill>
                  <a:srgbClr val="008F95"/>
                </a:solidFill>
              </a:rPr>
              <a:t>นายบุญธรรม พันธ์ใหญ่ • นักวิชาการคอมพิวเตอร์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78773D-E9C8-4328-AB2F-A41376585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1150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A7185"/>
                </a:solidFill>
              </a:defRPr>
            </a:pPr>
            <a:r>
              <a:rPr sz="1200" b="0">
                <a:solidFill>
                  <a:srgbClr val="5A7185"/>
                </a:solidFill>
              </a:rPr>
              <a:t>สำนักงานสาธารณสุขอำเภอตาลสุม จังหวัดอุบลราชธานี</a:t>
            </a:r>
          </a:p>
        </p:txBody>
      </p:sp>
    </p:spTree>
    <p:extLst>
      <p:ext uri="{BB962C8B-B14F-4D97-AF65-F5344CB8AC3E}">
        <p14:creationId xmlns:p14="http://schemas.microsoft.com/office/powerpoint/2010/main" val="15337983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3187C8-9F73-42C7-9841-CCC1304CC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08F95"/>
                </a:solidFill>
              </a:defRPr>
            </a:pPr>
            <a:r>
              <a:rPr sz="1050" b="1">
                <a:solidFill>
                  <a:srgbClr val="008F95"/>
                </a:solidFill>
              </a:rPr>
              <a:t>ภาพรวม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552F1D-9683-4106-9F01-99C31986B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23454"/>
                </a:solidFill>
              </a:defRPr>
            </a:pPr>
            <a:r>
              <a:rPr sz="2850" b="1">
                <a:solidFill>
                  <a:srgbClr val="123454"/>
                </a:solidFill>
              </a:rPr>
              <a:t>แพลตฟอร์มเดียว เชื่อมผู้ใช้ 3 กลุ่ม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E6AA7B-D2FD-421A-9F03-71468C77E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A7185"/>
                </a:solidFill>
              </a:defRPr>
            </a:pPr>
            <a:r>
              <a:rPr sz="1350" b="0">
                <a:solidFill>
                  <a:srgbClr val="5A7185"/>
                </a:solidFill>
              </a:rPr>
              <a:t>แต่ละบทบาทเห็นงานและข้อมูลที่จำเป็นต่อการทำงาน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16C9DB-18C1-4FED-8FB8-4CC4C87AE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3238500" cy="33337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8FBFD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24a9180db64462"/>
          <a:srcRect xmlns:a="http://schemas.openxmlformats.org/drawingml/2006/main" l="0" t="6167" r="0" b="61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7250" y="2171700"/>
            <a:ext cx="2895600" cy="1428750"/>
          </a:xfrm>
          <a:prstGeom xmlns:a="http://schemas.openxmlformats.org/drawingml/2006/main" prst="roundRect">
            <a:avLst>
              <a:gd name="adj" fmla="val 8000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A7FCF5-08F0-4024-830B-2D41E6EDF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8142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23454"/>
                </a:solidFill>
              </a:defRPr>
            </a:pPr>
            <a:r>
              <a:rPr sz="1875" b="1">
                <a:solidFill>
                  <a:srgbClr val="123454"/>
                </a:solidFill>
              </a:rPr>
              <a:t>อสม.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6E32DE-E590-4D0E-BF93-3307C5B5E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9100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A7185"/>
                </a:solidFill>
              </a:defRPr>
            </a:pPr>
            <a:r>
              <a:rPr sz="1425" b="0">
                <a:solidFill>
                  <a:srgbClr val="5A7185"/>
                </a:solidFill>
              </a:rPr>
              <a:t>รับงานรายบ้าน</a:t>
            </a:r>
          </a:p>
          <a:p xmlns:a="http://schemas.openxmlformats.org/drawingml/2006/main">
            <a:pPr>
              <a:defRPr sz="1425" b="0">
                <a:solidFill>
                  <a:srgbClr val="5A7185"/>
                </a:solidFill>
              </a:defRPr>
            </a:pPr>
            <a:r>
              <a:rPr sz="1425" b="0">
                <a:solidFill>
                  <a:srgbClr val="5A7185"/>
                </a:solidFill>
              </a:rPr>
              <a:t>คัดกรองและส่งผล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B75DDE-E86F-4953-8757-BD6A9BB40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8F95"/>
                </a:solidFill>
              </a:defRPr>
            </a:pPr>
            <a:r>
              <a:rPr sz="1200" b="1">
                <a:solidFill>
                  <a:srgbClr val="008F95"/>
                </a:solidFill>
              </a:rPr>
              <a:t>ลงมือทำในพื้นที่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BF96A5-BF8A-4EC5-84BD-6B5A94245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000250"/>
            <a:ext cx="3238500" cy="33337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AF8F5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9bb2a5cc3c401f"/>
          <a:srcRect xmlns:a="http://schemas.openxmlformats.org/drawingml/2006/main" l="0" t="6167" r="0" b="61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95800" y="2171700"/>
            <a:ext cx="2895600" cy="1428750"/>
          </a:xfrm>
          <a:prstGeom xmlns:a="http://schemas.openxmlformats.org/drawingml/2006/main" prst="roundRect">
            <a:avLst>
              <a:gd name="adj" fmla="val 8000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B3B925-BBEE-40DE-A941-14B0452CF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78142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23454"/>
                </a:solidFill>
              </a:defRPr>
            </a:pPr>
            <a:r>
              <a:rPr sz="1875" b="1">
                <a:solidFill>
                  <a:srgbClr val="123454"/>
                </a:solidFill>
              </a:rPr>
              <a:t>เจ้าหน้าที่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355D39-C8D9-47E6-A05B-FB67A5E4F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19100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A7185"/>
                </a:solidFill>
              </a:defRPr>
            </a:pPr>
            <a:r>
              <a:rPr sz="1425" b="0">
                <a:solidFill>
                  <a:srgbClr val="5A7185"/>
                </a:solidFill>
              </a:rPr>
              <a:t>จัดการเป้าหมาย</a:t>
            </a:r>
          </a:p>
          <a:p xmlns:a="http://schemas.openxmlformats.org/drawingml/2006/main">
            <a:pPr>
              <a:defRPr sz="1425" b="0">
                <a:solidFill>
                  <a:srgbClr val="5A7185"/>
                </a:solidFill>
              </a:defRPr>
            </a:pPr>
            <a:r>
              <a:rPr sz="1425" b="0">
                <a:solidFill>
                  <a:srgbClr val="5A7185"/>
                </a:solidFill>
              </a:rPr>
              <a:t>กำกับและติดตามผล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D2545A-23AE-46C8-A8EA-1E234B98D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895850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8F95"/>
                </a:solidFill>
              </a:defRPr>
            </a:pPr>
            <a:r>
              <a:rPr sz="1200" b="1">
                <a:solidFill>
                  <a:srgbClr val="008F95"/>
                </a:solidFill>
              </a:rPr>
              <a:t>เห็นภาพรวมงาน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6E0FD8-69B9-47E0-8F81-82A30AD4B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000250"/>
            <a:ext cx="3238500" cy="33337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8FBFD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1cd16cf9db49a7"/>
          <a:srcRect xmlns:a="http://schemas.openxmlformats.org/drawingml/2006/main" l="0" t="6167" r="0" b="61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34350" y="2171700"/>
            <a:ext cx="2895600" cy="1428750"/>
          </a:xfrm>
          <a:prstGeom xmlns:a="http://schemas.openxmlformats.org/drawingml/2006/main" prst="roundRect">
            <a:avLst>
              <a:gd name="adj" fmla="val 8000"/>
            </a:avLst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921388-8816-411A-BBB9-DC8E3285B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78142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23454"/>
                </a:solidFill>
              </a:defRPr>
            </a:pPr>
            <a:r>
              <a:rPr sz="1875" b="1">
                <a:solidFill>
                  <a:srgbClr val="123454"/>
                </a:solidFill>
              </a:rPr>
              <a:t>ประชาชน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174262-DFD9-4302-86BA-C20FCC7E4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19100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A7185"/>
                </a:solidFill>
              </a:defRPr>
            </a:pPr>
            <a:r>
              <a:rPr sz="1425" b="0">
                <a:solidFill>
                  <a:srgbClr val="5A7185"/>
                </a:solidFill>
              </a:rPr>
              <a:t>ประเมินสุขภาพ</a:t>
            </a:r>
          </a:p>
          <a:p xmlns:a="http://schemas.openxmlformats.org/drawingml/2006/main">
            <a:pPr>
              <a:defRPr sz="1425" b="0">
                <a:solidFill>
                  <a:srgbClr val="5A7185"/>
                </a:solidFill>
              </a:defRPr>
            </a:pPr>
            <a:r>
              <a:rPr sz="1425" b="0">
                <a:solidFill>
                  <a:srgbClr val="5A7185"/>
                </a:solidFill>
              </a:rPr>
              <a:t>เบื้องต้นด้วยตนเอง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7696C4-74A2-4CAC-98FB-590D8E023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895850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8F95"/>
                </a:solidFill>
              </a:defRPr>
            </a:pPr>
            <a:r>
              <a:rPr sz="1200" b="1">
                <a:solidFill>
                  <a:srgbClr val="008F95"/>
                </a:solidFill>
              </a:rPr>
              <a:t>เริ่มดูแลสุขภาพได้เอง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D67849-26FA-4C2C-874A-12D6BCA99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A7185"/>
                </a:solidFill>
              </a:defRPr>
            </a:pPr>
            <a:r>
              <a:rPr sz="900" b="0">
                <a:solidFill>
                  <a:srgbClr val="5A7185"/>
                </a:solidFill>
              </a:rPr>
              <a:t>NCDs Portal • สำนักงานสาธารณสุขอำเภอตาลสุม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8E9345-E0D4-44DC-A18F-B894B9BF2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77000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8F95"/>
                </a:solidFill>
              </a:defRPr>
            </a:pPr>
            <a:r>
              <a:rPr sz="975" b="1">
                <a:solidFill>
                  <a:srgbClr val="008F95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79756593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C79D98-4965-446D-8845-D4B6B485F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08F95"/>
                </a:solidFill>
              </a:defRPr>
            </a:pPr>
            <a:r>
              <a:rPr sz="1050" b="1">
                <a:solidFill>
                  <a:srgbClr val="008F95"/>
                </a:solidFill>
              </a:rPr>
              <a:t>6 เสาหลัก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796104-96F8-4EA8-8A4A-CA7CDB024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23454"/>
                </a:solidFill>
              </a:defRPr>
            </a:pPr>
            <a:r>
              <a:rPr sz="2850" b="1">
                <a:solidFill>
                  <a:srgbClr val="123454"/>
                </a:solidFill>
              </a:rPr>
              <a:t>ฟีเจอร์หลักถูกออกแบบให้ต่อกันเป็นงานเดียว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F15A41-F76C-41B0-B17A-CDE985885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A7185"/>
                </a:solidFill>
              </a:defRPr>
            </a:pPr>
            <a:r>
              <a:rPr sz="1350" b="0">
                <a:solidFill>
                  <a:srgbClr val="5A7185"/>
                </a:solidFill>
              </a:rPr>
              <a:t>จากการคัดกรอง ไปสู่การติดตาม การรายงาน และการจัดการหลังบ้าน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7c8a2ea0be473f"/>
          <a:srcRect xmlns:a="http://schemas.openxmlformats.org/drawingml/2006/main" l="0" t="16354" r="0" b="1635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714500"/>
            <a:ext cx="10820400" cy="4095750"/>
          </a:xfrm>
          <a:prstGeom xmlns:a="http://schemas.openxmlformats.org/drawingml/2006/main" prst="roundRect">
            <a:avLst>
              <a:gd name="adj" fmla="val 2791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F4FE0A-8C7C-45FD-B64C-04F6C120F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96265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8F95"/>
                </a:solidFill>
              </a:defRPr>
            </a:pPr>
            <a:r>
              <a:rPr sz="1350" b="1">
                <a:solidFill>
                  <a:srgbClr val="008F95"/>
                </a:solidFill>
              </a:rPr>
              <a:t>Red Alert • งานภาคสนาม • คะแนนและรางวัล • DPAC • แดชบอร์ด • การเชื่อมข้อมูล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781434-FBE1-406B-B1AD-43C9FE400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A7185"/>
                </a:solidFill>
              </a:defRPr>
            </a:pPr>
            <a:r>
              <a:rPr sz="900" b="0">
                <a:solidFill>
                  <a:srgbClr val="5A7185"/>
                </a:solidFill>
              </a:rPr>
              <a:t>NCDs Portal • สำนักงานสาธารณสุขอำเภอตาลสุม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793832-49A8-4EE4-9CA4-6D307F266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77000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8F95"/>
                </a:solidFill>
              </a:defRPr>
            </a:pPr>
            <a:r>
              <a:rPr sz="975" b="1">
                <a:solidFill>
                  <a:srgbClr val="008F9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48192716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CF7248-0487-45A9-A19C-7D900E7B0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08F95"/>
                </a:solidFill>
              </a:defRPr>
            </a:pPr>
            <a:r>
              <a:rPr sz="1050" b="1">
                <a:solidFill>
                  <a:srgbClr val="008F95"/>
                </a:solidFill>
              </a:rPr>
              <a:t>งานภาคสนาม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618FC1-0BE2-4CEC-AF92-3CC4EC9E3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23454"/>
                </a:solidFill>
              </a:defRPr>
            </a:pPr>
            <a:r>
              <a:rPr sz="2850" b="1">
                <a:solidFill>
                  <a:srgbClr val="123454"/>
                </a:solidFill>
              </a:rPr>
              <a:t>รายการงานที่พา อสม. ไปถึงการคัดกรองได้ทันที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47982B-CA3B-4324-AD21-E5A4211A8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A7185"/>
                </a:solidFill>
              </a:defRPr>
            </a:pPr>
            <a:r>
              <a:rPr sz="1350" b="0">
                <a:solidFill>
                  <a:srgbClr val="5A7185"/>
                </a:solidFill>
              </a:rPr>
              <a:t>เห็นบ้านเป้าหมาย สถานะงาน และทางเข้าผ่าน QR Code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1870d25d4744bd"/>
          <a:srcRect xmlns:a="http://schemas.openxmlformats.org/drawingml/2006/main" l="8842" t="0" r="88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809750"/>
            <a:ext cx="5572125" cy="3810000"/>
          </a:xfrm>
          <a:prstGeom xmlns:a="http://schemas.openxmlformats.org/drawingml/2006/main" prst="roundRect">
            <a:avLst>
              <a:gd name="adj" fmla="val 3000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F7A3A6-8205-48D4-9468-C699D0C6B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38350"/>
            <a:ext cx="409575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8FBFD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3272C5-B672-41DC-A77B-D394C6E34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21932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8F95"/>
                </a:solidFill>
              </a:defRPr>
            </a:pPr>
            <a:r>
              <a:rPr sz="1725" b="1">
                <a:solidFill>
                  <a:srgbClr val="008F95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EB66C6-FDE2-4410-8EEF-47F562EC8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1717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23454"/>
                </a:solidFill>
              </a:defRPr>
            </a:pPr>
            <a:r>
              <a:rPr sz="1575" b="1">
                <a:solidFill>
                  <a:srgbClr val="123454"/>
                </a:solidFill>
              </a:rPr>
              <a:t>งานค้างรายบ้าน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650F68-0533-4711-B292-700463DE5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574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A7185"/>
                </a:solidFill>
              </a:defRPr>
            </a:pPr>
            <a:r>
              <a:rPr sz="1125" b="0">
                <a:solidFill>
                  <a:srgbClr val="5A7185"/>
                </a:solidFill>
              </a:rPr>
              <a:t>เห็นผู้รับคัดกรองและสิทธิ์ที่ต้องตรวจ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7634D0-65F7-4388-88B4-F5830EF97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09575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EAF8F5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40AC5F-05F5-4833-BFD6-1B8A202F5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30517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8F95"/>
                </a:solidFill>
              </a:defRPr>
            </a:pPr>
            <a:r>
              <a:rPr sz="1725" b="1">
                <a:solidFill>
                  <a:srgbClr val="008F95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08156F-38A5-4C20-A071-51F46668D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2575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23454"/>
                </a:solidFill>
              </a:defRPr>
            </a:pPr>
            <a:r>
              <a:rPr sz="1575" b="1">
                <a:solidFill>
                  <a:srgbClr val="123454"/>
                </a:solidFill>
              </a:rPr>
              <a:t>QR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F4637A-B4D0-4212-A4D6-A6965F259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5433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A7185"/>
                </a:solidFill>
              </a:defRPr>
            </a:pPr>
            <a:r>
              <a:rPr sz="1125" b="0">
                <a:solidFill>
                  <a:srgbClr val="5A7185"/>
                </a:solidFill>
              </a:rPr>
              <a:t>เข้าสู่การตรวจจากรหัสประจำบ้าน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FD8950-88B5-4355-98E8-215D59D7F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210050"/>
            <a:ext cx="409575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8FBFD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F794D1-3653-4BDF-9D4E-F64ABF496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39102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8F95"/>
                </a:solidFill>
              </a:defRPr>
            </a:pPr>
            <a:r>
              <a:rPr sz="1725" b="1">
                <a:solidFill>
                  <a:srgbClr val="008F95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57E3F0-7A60-4285-A130-1BCB0271D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3434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23454"/>
                </a:solidFill>
              </a:defRPr>
            </a:pPr>
            <a:r>
              <a:rPr sz="1575" b="1">
                <a:solidFill>
                  <a:srgbClr val="123454"/>
                </a:solidFill>
              </a:rPr>
              <a:t>งาน DPAC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A63C56-79DB-47C1-A12A-8C5D28579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6291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A7185"/>
                </a:solidFill>
              </a:defRPr>
            </a:pPr>
            <a:r>
              <a:rPr sz="1125" b="0">
                <a:solidFill>
                  <a:srgbClr val="5A7185"/>
                </a:solidFill>
              </a:rPr>
              <a:t>แยกงานติดตามออกจากงานคัดกรองหลัก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8B3DDB-C4AE-46C5-AAC9-86E65A88F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A7185"/>
                </a:solidFill>
              </a:defRPr>
            </a:pPr>
            <a:r>
              <a:rPr sz="900" b="0">
                <a:solidFill>
                  <a:srgbClr val="5A7185"/>
                </a:solidFill>
              </a:rPr>
              <a:t>NCDs Portal • สำนักงานสาธารณสุขอำเภอตาลสุม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38DAA6-FE48-4E92-8A91-E8C82E928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77000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8F95"/>
                </a:solidFill>
              </a:defRPr>
            </a:pPr>
            <a:r>
              <a:rPr sz="975" b="1">
                <a:solidFill>
                  <a:srgbClr val="008F95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72779871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2345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29FA07-D993-4C80-A2F2-FCA77377B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08F95"/>
                </a:solidFill>
              </a:defRPr>
            </a:pPr>
            <a:r>
              <a:rPr sz="1050" b="1">
                <a:solidFill>
                  <a:srgbClr val="008F95"/>
                </a:solidFill>
              </a:rPr>
              <a:t>การตอบสนองเคส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B253AF-A88D-40A9-89ED-8B3E2109F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23454"/>
                </a:solidFill>
              </a:defRPr>
            </a:pPr>
            <a:r>
              <a:rPr sz="2850" b="1">
                <a:solidFill>
                  <a:srgbClr val="123454"/>
                </a:solidFill>
              </a:rPr>
              <a:t>Red Alert Station วางอยู่ในสายงานส่งต่อ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6E57D5-B986-466D-80C7-419EB5594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A7185"/>
                </a:solidFill>
              </a:defRPr>
            </a:pPr>
            <a:r>
              <a:rPr sz="1350" b="0">
                <a:solidFill>
                  <a:srgbClr val="5A7185"/>
                </a:solidFill>
              </a:rPr>
              <a:t>ระบบมีเมนูเคสวิกฤตและส่งต่อ รวมถึง Red Alert Station สำหรับผู้ดูแล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24E634-A4D2-475D-96F0-672996E62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76500"/>
            <a:ext cx="2762250" cy="1857375"/>
          </a:xfrm>
          <a:prstGeom xmlns:a="http://schemas.openxmlformats.org/drawingml/2006/main" prst="roundRect">
            <a:avLst>
              <a:gd name="adj" fmla="val 8205"/>
            </a:avLst>
          </a:prstGeom>
          <a:solidFill xmlns:a="http://schemas.openxmlformats.org/drawingml/2006/main">
            <a:srgbClr val="1A446B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F51A98-314D-44BD-A3BB-B71F59158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6670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75E1D5"/>
                </a:solidFill>
              </a:defRPr>
            </a:pPr>
            <a:r>
              <a:rPr sz="1950" b="1">
                <a:solidFill>
                  <a:srgbClr val="75E1D5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EEB425-5D0B-4D57-8F52-CC1D8BB15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19087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ตรวจพบ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4D793B-13AF-48A7-87B0-3DE71F15B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648075"/>
            <a:ext cx="2238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D7E8F1"/>
                </a:solidFill>
              </a:defRPr>
            </a:pPr>
            <a:r>
              <a:rPr sz="1275" b="0">
                <a:solidFill>
                  <a:srgbClr val="D7E8F1"/>
                </a:solidFill>
              </a:rPr>
              <a:t>บันทึกผลและระบุเคสที่ต้องติดตาม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BC812C-7758-47A7-A937-33059BB88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3238500"/>
            <a:ext cx="304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75E1D5"/>
                </a:solidFill>
              </a:defRPr>
            </a:pPr>
            <a:r>
              <a:rPr sz="1875" b="1">
                <a:solidFill>
                  <a:srgbClr val="75E1D5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F1F946-32D5-432D-AA2B-CAAC328FC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476500"/>
            <a:ext cx="2762250" cy="1857375"/>
          </a:xfrm>
          <a:prstGeom xmlns:a="http://schemas.openxmlformats.org/drawingml/2006/main" prst="roundRect">
            <a:avLst>
              <a:gd name="adj" fmla="val 8205"/>
            </a:avLst>
          </a:prstGeom>
          <a:solidFill xmlns:a="http://schemas.openxmlformats.org/drawingml/2006/main">
            <a:srgbClr val="1A446B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31869E-57C7-47BE-A656-EC0610BE8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6670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75E1D5"/>
                </a:solidFill>
              </a:defRPr>
            </a:pPr>
            <a:r>
              <a:rPr sz="1950" b="1">
                <a:solidFill>
                  <a:srgbClr val="75E1D5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EA96CF-BCC4-4725-A16E-DFF6AB1E1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19087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แจ้งงาน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9D22FB-C71D-4EB9-BA9F-8788168D5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648075"/>
            <a:ext cx="2238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D7E8F1"/>
                </a:solidFill>
              </a:defRPr>
            </a:pPr>
            <a:r>
              <a:rPr sz="1275" b="0">
                <a:solidFill>
                  <a:srgbClr val="D7E8F1"/>
                </a:solidFill>
              </a:rPr>
              <a:t>ส่งต่อให้ผู้รับผิดชอบดำเนินการ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313678-E814-4243-9197-65F13B07D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3238500"/>
            <a:ext cx="304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75E1D5"/>
                </a:solidFill>
              </a:defRPr>
            </a:pPr>
            <a:r>
              <a:rPr sz="1875" b="1">
                <a:solidFill>
                  <a:srgbClr val="75E1D5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BB838A-AB51-44F5-89E5-2D151C49E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476500"/>
            <a:ext cx="2762250" cy="1857375"/>
          </a:xfrm>
          <a:prstGeom xmlns:a="http://schemas.openxmlformats.org/drawingml/2006/main" prst="roundRect">
            <a:avLst>
              <a:gd name="adj" fmla="val 8205"/>
            </a:avLst>
          </a:prstGeom>
          <a:solidFill xmlns:a="http://schemas.openxmlformats.org/drawingml/2006/main">
            <a:srgbClr val="1A446B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63E312-23B7-4C98-ABD2-9A1D57B26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26670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75E1D5"/>
                </a:solidFill>
              </a:defRPr>
            </a:pPr>
            <a:r>
              <a:rPr sz="1950" b="1">
                <a:solidFill>
                  <a:srgbClr val="75E1D5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BD4166-4278-4CE4-B734-8BB42804C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319087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ติดตาม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6DC070-9BE7-451A-9F0B-F073E4B41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3648075"/>
            <a:ext cx="2238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D7E8F1"/>
                </a:solidFill>
              </a:defRPr>
            </a:pPr>
            <a:r>
              <a:rPr sz="1275" b="0">
                <a:solidFill>
                  <a:srgbClr val="D7E8F1"/>
                </a:solidFill>
              </a:rPr>
              <a:t>ติดตามสถานะการประสานงานและการส่งต่อ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2E0D81-A495-4B64-BDF5-29DCBE9F6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48250"/>
            <a:ext cx="904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D7E8F1"/>
                </a:solidFill>
              </a:defRPr>
            </a:pPr>
            <a:r>
              <a:rPr sz="1500" b="0">
                <a:solidFill>
                  <a:srgbClr val="D7E8F1"/>
                </a:solidFill>
              </a:rPr>
              <a:t>ใช้ควบคู่กับการกำกับของ รพ.สต. และงานส่งต่อที่ตรวจสอบย้อนกลับได้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80FEAF-D4C5-462F-B071-FEA1BB6B2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A7185"/>
                </a:solidFill>
              </a:defRPr>
            </a:pPr>
            <a:r>
              <a:rPr sz="900" b="0">
                <a:solidFill>
                  <a:srgbClr val="5A7185"/>
                </a:solidFill>
              </a:rPr>
              <a:t>NCDs Portal • สำนักงานสาธารณสุขอำเภอตาลสุม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E79ED4-AD93-4559-92B1-9743CDFBF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77000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8F95"/>
                </a:solidFill>
              </a:defRPr>
            </a:pPr>
            <a:r>
              <a:rPr sz="975" b="1">
                <a:solidFill>
                  <a:srgbClr val="008F95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3878599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713F2D-82F2-4F71-9361-EA15CD2EB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08F95"/>
                </a:solidFill>
              </a:defRPr>
            </a:pPr>
            <a:r>
              <a:rPr sz="1050" b="1">
                <a:solidFill>
                  <a:srgbClr val="008F95"/>
                </a:solidFill>
              </a:rPr>
              <a:t>แรงจูงใจในการทำงาน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B103F6-C70E-43EF-8827-7F21C1735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23454"/>
                </a:solidFill>
              </a:defRPr>
            </a:pPr>
            <a:r>
              <a:rPr sz="2850" b="1">
                <a:solidFill>
                  <a:srgbClr val="123454"/>
                </a:solidFill>
              </a:rPr>
              <a:t>คะแนน รางวัล และฉายา ทำให้ผลงานมองเห็นได้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367DE1-2E33-4537-9B94-4BDDC06B0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A7185"/>
                </a:solidFill>
              </a:defRPr>
            </a:pPr>
            <a:r>
              <a:rPr sz="1350" b="0">
                <a:solidFill>
                  <a:srgbClr val="5A7185"/>
                </a:solidFill>
              </a:rPr>
              <a:t>กระดานคะแนนรวมการติดตามผลงาน ตราเกียรติยศ และการแลกรางวัล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837aefb54c4b27"/>
          <a:srcRect xmlns:a="http://schemas.openxmlformats.org/drawingml/2006/main" l="11119" t="0" r="1111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809750"/>
            <a:ext cx="5000625" cy="3619500"/>
          </a:xfrm>
          <a:prstGeom xmlns:a="http://schemas.openxmlformats.org/drawingml/2006/main" prst="roundRect">
            <a:avLst>
              <a:gd name="adj" fmla="val 3158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BEB105-C7C1-44EE-A7FE-2B3D227E0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24050"/>
            <a:ext cx="485775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AF8F5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6BB0E9-9269-4182-A436-3EC819BDB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955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23454"/>
                </a:solidFill>
              </a:defRPr>
            </a:pPr>
            <a:r>
              <a:rPr sz="1875" b="1">
                <a:solidFill>
                  <a:srgbClr val="123454"/>
                </a:solidFill>
              </a:rPr>
              <a:t>กระดานคะแนน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4BB8AA-AB11-4929-9FF6-8A13D421D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47925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A7185"/>
                </a:solidFill>
              </a:defRPr>
            </a:pPr>
            <a:r>
              <a:rPr sz="1275" b="0">
                <a:solidFill>
                  <a:srgbClr val="5A7185"/>
                </a:solidFill>
              </a:rPr>
              <a:t>เห็นอันดับผลงานของ อสม. ในพื้นที่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629E3C-4F9C-4CDC-AD93-5EC0FEA40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05150"/>
            <a:ext cx="485775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F73758-DA02-4288-8F57-02BEA97BB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766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23454"/>
                </a:solidFill>
              </a:defRPr>
            </a:pPr>
            <a:r>
              <a:rPr sz="1875" b="1">
                <a:solidFill>
                  <a:srgbClr val="123454"/>
                </a:solidFill>
              </a:rPr>
              <a:t>ฉายาและตราเกียรติยศ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D3C6FE-1458-4463-B4E6-C0A37C6BF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29025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A7185"/>
                </a:solidFill>
              </a:defRPr>
            </a:pPr>
            <a:r>
              <a:rPr sz="1275" b="0">
                <a:solidFill>
                  <a:srgbClr val="5A7185"/>
                </a:solidFill>
              </a:rPr>
              <a:t>มอบเอกลักษณ์ให้ผลงานในกลุ่ม Top 50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E8687B-285B-409F-87C6-14A5FEF45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86250"/>
            <a:ext cx="485775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42ADC7-B902-4102-809B-ADE1CA5E7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4577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23454"/>
                </a:solidFill>
              </a:defRPr>
            </a:pPr>
            <a:r>
              <a:rPr sz="1875" b="1">
                <a:solidFill>
                  <a:srgbClr val="123454"/>
                </a:solidFill>
              </a:rPr>
              <a:t>ศูนย์แลกของรางวัล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310CEE-D32E-4514-93F2-0C8C59F38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810125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A7185"/>
                </a:solidFill>
              </a:defRPr>
            </a:pPr>
            <a:r>
              <a:rPr sz="1275" b="0">
                <a:solidFill>
                  <a:srgbClr val="5A7185"/>
                </a:solidFill>
              </a:rPr>
              <a:t>จัดการคะแนนและรายการรางวัลในระบบ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B6A867-103B-4302-A0B1-670CF4AAD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A7185"/>
                </a:solidFill>
              </a:defRPr>
            </a:pPr>
            <a:r>
              <a:rPr sz="900" b="0">
                <a:solidFill>
                  <a:srgbClr val="5A7185"/>
                </a:solidFill>
              </a:rPr>
              <a:t>NCDs Portal • สำนักงานสาธารณสุขอำเภอตาลสุม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8A3520-6B78-4566-82D0-75E94E16D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77000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8F95"/>
                </a:solidFill>
              </a:defRPr>
            </a:pPr>
            <a:r>
              <a:rPr sz="975" b="1">
                <a:solidFill>
                  <a:srgbClr val="008F95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81477672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ED28D9-B65D-4E89-8B6F-0C302E6CC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08F95"/>
                </a:solidFill>
              </a:defRPr>
            </a:pPr>
            <a:r>
              <a:rPr sz="1050" b="1">
                <a:solidFill>
                  <a:srgbClr val="008F95"/>
                </a:solidFill>
              </a:rPr>
              <a:t>การดูแลต่อเนื่อง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BB6D77-EC48-480F-A3F6-D5D4805E0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23454"/>
                </a:solidFill>
              </a:defRPr>
            </a:pPr>
            <a:r>
              <a:rPr sz="2850" b="1">
                <a:solidFill>
                  <a:srgbClr val="123454"/>
                </a:solidFill>
              </a:rPr>
              <a:t>DPAC และการติดตามหลายรอบ ลดการเห็นงานเป็นครั้งเดียว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623B65-EFC9-45EB-AF6D-EC3ED30CC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A7185"/>
                </a:solidFill>
              </a:defRPr>
            </a:pPr>
            <a:r>
              <a:rPr sz="1350" b="0">
                <a:solidFill>
                  <a:srgbClr val="5A7185"/>
                </a:solidFill>
              </a:rPr>
              <a:t>แดชบอร์ดแสดงรอบคัดกรองหลัก รอบติดตามซ้ำ และงานที่ยังรอดำเนินการ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e246ec41304d1b"/>
          <a:srcRect xmlns:a="http://schemas.openxmlformats.org/drawingml/2006/main" l="1455" t="0" r="145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809750"/>
            <a:ext cx="6572250" cy="3810000"/>
          </a:xfrm>
          <a:prstGeom xmlns:a="http://schemas.openxmlformats.org/drawingml/2006/main" prst="roundRect">
            <a:avLst>
              <a:gd name="adj" fmla="val 3000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22F957-1BC5-4267-9793-AD06894AD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038350"/>
            <a:ext cx="238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8F95"/>
                </a:solidFill>
              </a:defRPr>
            </a:pPr>
            <a:r>
              <a:rPr sz="1500" b="1">
                <a:solidFill>
                  <a:srgbClr val="008F95"/>
                </a:solidFill>
              </a:rPr>
              <a:t>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D93B1C-9A7C-4C3B-B15E-4D33AE857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193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23454"/>
                </a:solidFill>
              </a:defRPr>
            </a:pPr>
            <a:r>
              <a:rPr sz="1575" b="1">
                <a:solidFill>
                  <a:srgbClr val="123454"/>
                </a:solidFill>
              </a:rPr>
              <a:t>รอบคัดกรองหลัก (Baseline)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AA532B-D1E4-4A64-A71C-C5EAD6BCE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762250"/>
            <a:ext cx="238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8F95"/>
                </a:solidFill>
              </a:defRPr>
            </a:pPr>
            <a:r>
              <a:rPr sz="1500" b="1">
                <a:solidFill>
                  <a:srgbClr val="008F95"/>
                </a:solidFill>
              </a:rPr>
              <a:t>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485D8A-6DA2-449E-AFF0-2983C3805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432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23454"/>
                </a:solidFill>
              </a:defRPr>
            </a:pPr>
            <a:r>
              <a:rPr sz="1575" b="1">
                <a:solidFill>
                  <a:srgbClr val="123454"/>
                </a:solidFill>
              </a:rPr>
              <a:t>ติดตามซ้ำรอบที่ 2 และรอบต่อเนื่อง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C01276-5038-49D0-9A1B-567109482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486150"/>
            <a:ext cx="238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8F95"/>
                </a:solidFill>
              </a:defRPr>
            </a:pPr>
            <a:r>
              <a:rPr sz="1500" b="1">
                <a:solidFill>
                  <a:srgbClr val="008F95"/>
                </a:solidFill>
              </a:rPr>
              <a:t>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B56605-A6B3-4CDB-87BC-EE8E6E64F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4671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23454"/>
                </a:solidFill>
              </a:defRPr>
            </a:pPr>
            <a:r>
              <a:rPr sz="1575" b="1">
                <a:solidFill>
                  <a:srgbClr val="123454"/>
                </a:solidFill>
              </a:rPr>
              <a:t>งานที่มอบหมายและยังไม่เสร็จ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C15DC1-39D3-49A4-95D1-195C04A9E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210050"/>
            <a:ext cx="238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B6BB3"/>
                </a:solidFill>
              </a:defRPr>
            </a:pPr>
            <a:r>
              <a:rPr sz="1500" b="1">
                <a:solidFill>
                  <a:srgbClr val="7B6BB3"/>
                </a:solidFill>
              </a:rPr>
              <a:t>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B92EFF-6134-476B-B161-98433AF15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1910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23454"/>
                </a:solidFill>
              </a:defRPr>
            </a:pPr>
            <a:r>
              <a:rPr sz="1575" b="1">
                <a:solidFill>
                  <a:srgbClr val="123454"/>
                </a:solidFill>
              </a:rPr>
              <a:t>โครงการปรับพฤติกรรม DPAC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25CEFA-BE37-409B-88C1-42609BAD5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A7185"/>
                </a:solidFill>
              </a:defRPr>
            </a:pPr>
            <a:r>
              <a:rPr sz="900" b="0">
                <a:solidFill>
                  <a:srgbClr val="5A7185"/>
                </a:solidFill>
              </a:rPr>
              <a:t>NCDs Portal • สำนักงานสาธารณสุขอำเภอตาลสุม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C51745-19C9-467D-98BC-C9A29885C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77000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8F95"/>
                </a:solidFill>
              </a:defRPr>
            </a:pPr>
            <a:r>
              <a:rPr sz="975" b="1">
                <a:solidFill>
                  <a:srgbClr val="008F95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98897002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8FEF38-F24B-460A-A931-3B94C2234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08F95"/>
                </a:solidFill>
              </a:defRPr>
            </a:pPr>
            <a:r>
              <a:rPr sz="1050" b="1">
                <a:solidFill>
                  <a:srgbClr val="008F95"/>
                </a:solidFill>
              </a:rPr>
              <a:t>ภาพรวมเพื่อการตัดสินใจ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87E960-16EA-4D84-A4B1-036FFDDD3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23454"/>
                </a:solidFill>
              </a:defRPr>
            </a:pPr>
            <a:r>
              <a:rPr sz="2850" b="1">
                <a:solidFill>
                  <a:srgbClr val="123454"/>
                </a:solidFill>
              </a:rPr>
              <a:t>แดชบอร์ดรวมความครอบคลุม ความเสี่ยง และพื้นที่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53AB73-B80B-4D2E-802A-D7389E510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A7185"/>
                </a:solidFill>
              </a:defRPr>
            </a:pPr>
            <a:r>
              <a:rPr sz="1350" b="0">
                <a:solidFill>
                  <a:srgbClr val="5A7185"/>
                </a:solidFill>
              </a:rPr>
              <a:t>ผู้ดูแลกรองข้อมูลตามพื้นที่และดูผลล่าสุดเพื่อวางแผนงานต่อไป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6a7193af044529"/>
          <a:srcRect xmlns:a="http://schemas.openxmlformats.org/drawingml/2006/main" l="751" t="0" r="75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809750"/>
            <a:ext cx="6667500" cy="3810000"/>
          </a:xfrm>
          <a:prstGeom xmlns:a="http://schemas.openxmlformats.org/drawingml/2006/main" prst="roundRect">
            <a:avLst>
              <a:gd name="adj" fmla="val 3000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690731-0375-4784-9F23-BB95153C5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952625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23454"/>
                </a:solidFill>
              </a:defRPr>
            </a:pPr>
            <a:r>
              <a:rPr sz="1800" b="1">
                <a:solidFill>
                  <a:srgbClr val="123454"/>
                </a:solidFill>
              </a:rPr>
              <a:t>ข้อมูลที่มองเห็นได้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DE020C-1505-470E-8F61-9F7219C1A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400300"/>
            <a:ext cx="323850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AF8F5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6E5962-8E46-4F80-9EE3-F88E6DA53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46697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8F95"/>
                </a:solidFill>
              </a:defRPr>
            </a:pPr>
            <a:r>
              <a:rPr sz="1350" b="1">
                <a:solidFill>
                  <a:srgbClr val="008F95"/>
                </a:solidFill>
              </a:rPr>
              <a:t>ความครอบคลุม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0AB63F-12C1-46AD-9FAA-30D0F03B0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860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A7185"/>
                </a:solidFill>
              </a:defRPr>
            </a:pPr>
            <a:r>
              <a:rPr sz="1125" b="0">
                <a:solidFill>
                  <a:srgbClr val="5A7185"/>
                </a:solidFill>
              </a:rPr>
              <a:t>เป้าหมายและผลคัดกรอง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702EC1-B010-4243-8A71-E125173B3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143250"/>
            <a:ext cx="323850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D8A284-4327-42B4-AE64-88D64D4FA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20992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8F95"/>
                </a:solidFill>
              </a:defRPr>
            </a:pPr>
            <a:r>
              <a:rPr sz="1350" b="1">
                <a:solidFill>
                  <a:srgbClr val="008F95"/>
                </a:solidFill>
              </a:rPr>
              <a:t>ระดับความเสี่ยง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2971FF-25AD-46C5-A5A2-D26B68A0D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4290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A7185"/>
                </a:solidFill>
              </a:defRPr>
            </a:pPr>
            <a:r>
              <a:rPr sz="1125" b="0">
                <a:solidFill>
                  <a:srgbClr val="5A7185"/>
                </a:solidFill>
              </a:rPr>
              <a:t>ปกติ กลุ่มเสี่ยง และสงสัยป่วย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D2CED0-85F8-4C88-9B38-B3803B0A6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886200"/>
            <a:ext cx="323850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AF8F5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D9133F-1D4D-4021-8308-E5C141FB1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95287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8F95"/>
                </a:solidFill>
              </a:defRPr>
            </a:pPr>
            <a:r>
              <a:rPr sz="1350" b="1">
                <a:solidFill>
                  <a:srgbClr val="008F95"/>
                </a:solidFill>
              </a:rPr>
              <a:t>ความก้าวหน้ารายรอบ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E89914-2AF3-4943-BE67-DFD98DD28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1719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A7185"/>
                </a:solidFill>
              </a:defRPr>
            </a:pPr>
            <a:r>
              <a:rPr sz="1125" b="0">
                <a:solidFill>
                  <a:srgbClr val="5A7185"/>
                </a:solidFill>
              </a:rPr>
              <a:t>Baseline และการติดตามซ้ำ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2E0596-0E1E-46B8-9D54-3B3EC8626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629150"/>
            <a:ext cx="323850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69EDE8-FEA7-4358-AA63-64739C6E9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69582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8F95"/>
                </a:solidFill>
              </a:defRPr>
            </a:pPr>
            <a:r>
              <a:rPr sz="1350" b="1">
                <a:solidFill>
                  <a:srgbClr val="008F95"/>
                </a:solidFill>
              </a:rPr>
              <a:t>แผนที่กลุ่มเสี่ยง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DA42F6-C34A-4CDC-A6EF-34B88830B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9149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A7185"/>
                </a:solidFill>
              </a:defRPr>
            </a:pPr>
            <a:r>
              <a:rPr sz="1125" b="0">
                <a:solidFill>
                  <a:srgbClr val="5A7185"/>
                </a:solidFill>
              </a:rPr>
              <a:t>กรองตามระดับความเสี่ยงและ รพ.สต.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0B1E9E-10F8-4E50-8CAF-D397C0869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A7185"/>
                </a:solidFill>
              </a:defRPr>
            </a:pPr>
            <a:r>
              <a:rPr sz="900" b="0">
                <a:solidFill>
                  <a:srgbClr val="5A7185"/>
                </a:solidFill>
              </a:rPr>
              <a:t>NCDs Portal • สำนักงานสาธารณสุขอำเภอตาลสุม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746761-8D59-4E75-BA84-3B80DAF9B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77000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8F95"/>
                </a:solidFill>
              </a:defRPr>
            </a:pPr>
            <a:r>
              <a:rPr sz="975" b="1">
                <a:solidFill>
                  <a:srgbClr val="008F95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50164230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062A01-7318-4707-97DC-3C7E9DCB5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08F95"/>
                </a:solidFill>
              </a:defRPr>
            </a:pPr>
            <a:r>
              <a:rPr sz="1050" b="1">
                <a:solidFill>
                  <a:srgbClr val="008F95"/>
                </a:solidFill>
              </a:rPr>
              <a:t>ระบบหลังบ้าน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4EB1B1-6E0F-4D97-B2DC-ED12A6692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23454"/>
                </a:solidFill>
              </a:defRPr>
            </a:pPr>
            <a:r>
              <a:rPr sz="2850" b="1">
                <a:solidFill>
                  <a:srgbClr val="123454"/>
                </a:solidFill>
              </a:rPr>
              <a:t>ลดงานซ้ำและเตรียมสภาพแวดล้อมสำหรับการใช้งานจริง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604899-CC9A-40A5-902D-C41C0AF05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A7185"/>
                </a:solidFill>
              </a:defRPr>
            </a:pPr>
            <a:r>
              <a:rPr sz="1350" b="0">
                <a:solidFill>
                  <a:srgbClr val="5A7185"/>
                </a:solidFill>
              </a:rPr>
              <a:t>ส่วนผู้ดูแลรวมการจัดการประชากร หน่วยบริการ ปีงบประมาณ ข้อความ และการซิงค์ข้อมูล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443800-313E-4644-94ED-F6B0DA9A7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00250"/>
            <a:ext cx="476250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8FBFD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09FC76-F232-4ED5-A908-9E3E0BE0B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288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8F95"/>
                </a:solidFill>
              </a:defRPr>
            </a:pPr>
            <a:r>
              <a:rPr sz="1725" b="1">
                <a:solidFill>
                  <a:srgbClr val="008F95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1EFFDE-618E-497A-90C9-71445D83F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19075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23454"/>
                </a:solidFill>
              </a:defRPr>
            </a:pPr>
            <a:r>
              <a:rPr sz="1800" b="1">
                <a:solidFill>
                  <a:srgbClr val="123454"/>
                </a:solidFill>
              </a:rPr>
              <a:t>จัดการเป้าหมาย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44F028-A380-4168-A33B-0DE3968BE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600325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A7185"/>
                </a:solidFill>
              </a:defRPr>
            </a:pPr>
            <a:r>
              <a:rPr sz="1275" b="0">
                <a:solidFill>
                  <a:srgbClr val="5A7185"/>
                </a:solidFill>
              </a:rPr>
              <a:t>ประชากรเป้าหมาย • หน่วยบริการ • บ้าน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532C13-291F-4591-96E4-D4713BAED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000250"/>
            <a:ext cx="476250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EAF8F5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F6E618-C742-4E16-98E8-00AD6C976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288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8F95"/>
                </a:solidFill>
              </a:defRPr>
            </a:pPr>
            <a:r>
              <a:rPr sz="1725" b="1">
                <a:solidFill>
                  <a:srgbClr val="008F95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F2BA34-8BE9-457D-A6AC-D745C2DA2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19075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23454"/>
                </a:solidFill>
              </a:defRPr>
            </a:pPr>
            <a:r>
              <a:rPr sz="1800" b="1">
                <a:solidFill>
                  <a:srgbClr val="123454"/>
                </a:solidFill>
              </a:rPr>
              <a:t>ซิงค์และนำเข้าข้อมูล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4E5AE5-CCEC-44B4-944B-BCA7A871D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600325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A7185"/>
                </a:solidFill>
              </a:defRPr>
            </a:pPr>
            <a:r>
              <a:rPr sz="1275" b="0">
                <a:solidFill>
                  <a:srgbClr val="5A7185"/>
                </a:solidFill>
              </a:rPr>
              <a:t>เมนูซิงค์ฐานข้อมูล JHCIS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0C07BC-7E3C-4BE9-B375-951305653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19500"/>
            <a:ext cx="476250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8FBFD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E9A5DB-9820-43B0-B666-F49C74DD8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481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8F95"/>
                </a:solidFill>
              </a:defRPr>
            </a:pPr>
            <a:r>
              <a:rPr sz="1725" b="1">
                <a:solidFill>
                  <a:srgbClr val="008F95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10B359-5398-4457-A99B-D31A8271C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81000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23454"/>
                </a:solidFill>
              </a:defRPr>
            </a:pPr>
            <a:r>
              <a:rPr sz="1800" b="1">
                <a:solidFill>
                  <a:srgbClr val="123454"/>
                </a:solidFill>
              </a:rPr>
              <a:t>โหมดทดลอง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5980D3-CC62-47FE-8A93-BA6994494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219575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A7185"/>
                </a:solidFill>
              </a:defRPr>
            </a:pPr>
            <a:r>
              <a:rPr sz="1275" b="0">
                <a:solidFill>
                  <a:srgbClr val="5A7185"/>
                </a:solidFill>
              </a:rPr>
              <a:t>Virtual Mode สำหรับสาธิตและฝึกใช้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958E99-14A9-4B81-9F5C-A4E073067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619500"/>
            <a:ext cx="476250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8FBFD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CC7078-B818-4452-9534-F37349F76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8481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8F95"/>
                </a:solidFill>
              </a:defRPr>
            </a:pPr>
            <a:r>
              <a:rPr sz="1725" b="1">
                <a:solidFill>
                  <a:srgbClr val="008F95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C287F9-196B-4E10-AF22-72F4E323B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81000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23454"/>
                </a:solidFill>
              </a:defRPr>
            </a:pPr>
            <a:r>
              <a:rPr sz="1800" b="1">
                <a:solidFill>
                  <a:srgbClr val="123454"/>
                </a:solidFill>
              </a:rPr>
              <a:t>การควบคุมระบบ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3164C7-1E51-4A7E-88BE-6C4811D32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219575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A7185"/>
                </a:solidFill>
              </a:defRPr>
            </a:pPr>
            <a:r>
              <a:rPr sz="1275" b="0">
                <a:solidFill>
                  <a:srgbClr val="5A7185"/>
                </a:solidFill>
              </a:rPr>
              <a:t>ปีงบประมาณ • Secure Log • ศูนย์ข้อความ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DA800D-01FC-4315-BEB2-83FB00528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A7185"/>
                </a:solidFill>
              </a:defRPr>
            </a:pPr>
            <a:r>
              <a:rPr sz="900" b="0">
                <a:solidFill>
                  <a:srgbClr val="5A7185"/>
                </a:solidFill>
              </a:rPr>
              <a:t>NCDs Portal • สำนักงานสาธารณสุขอำเภอตาลสุม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B381EF-01A7-48B0-88B8-D9C8DC2D5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77000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8F95"/>
                </a:solidFill>
              </a:defRPr>
            </a:pPr>
            <a:r>
              <a:rPr sz="975" b="1">
                <a:solidFill>
                  <a:srgbClr val="008F95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87642373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EA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4D4F13-0095-43F5-8E2D-880094309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8F95"/>
                </a:solidFill>
              </a:defRPr>
            </a:pPr>
            <a:r>
              <a:rPr sz="1350" b="1">
                <a:solidFill>
                  <a:srgbClr val="008F95"/>
                </a:solidFill>
              </a:rPr>
              <a:t>NCDs PORTAL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2D6EC4-7D87-4101-AA27-D6786423E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8858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123454"/>
                </a:solidFill>
              </a:defRPr>
            </a:pPr>
            <a:r>
              <a:rPr sz="3675" b="1">
                <a:solidFill>
                  <a:srgbClr val="123454"/>
                </a:solidFill>
              </a:rPr>
              <a:t>เริ่มจากงานที่ง่าย</a:t>
            </a:r>
          </a:p>
          <a:p xmlns:a="http://schemas.openxmlformats.org/drawingml/2006/main">
            <a:pPr>
              <a:defRPr sz="3675" b="1">
                <a:solidFill>
                  <a:srgbClr val="123454"/>
                </a:solidFill>
              </a:defRPr>
            </a:pPr>
            <a:r>
              <a:rPr sz="3675" b="1">
                <a:solidFill>
                  <a:srgbClr val="123454"/>
                </a:solidFill>
              </a:rPr>
              <a:t>และต่อยอดสู่การกำกับที่ชัดเจน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8E2805-B786-49CC-B83F-0D02C488F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A7185"/>
                </a:solidFill>
              </a:defRPr>
            </a:pPr>
            <a:r>
              <a:rPr sz="1650" b="0">
                <a:solidFill>
                  <a:srgbClr val="5A7185"/>
                </a:solidFill>
              </a:rPr>
              <a:t>อสม. ทำงานรายบ้าน • เจ้าหน้าที่เห็นความคืบหน้า • ประชาชนเริ่มดูแลสุขภาพได้เอง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379C76-42A7-4FAE-B21E-2E82F89AB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1082040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D131D8-A4A9-4C53-970F-57D520468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243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08F95"/>
                </a:solidFill>
              </a:defRPr>
            </a:pPr>
            <a:r>
              <a:rPr sz="1575" b="1">
                <a:solidFill>
                  <a:srgbClr val="008F95"/>
                </a:solidFill>
              </a:rPr>
              <a:t>เครดิตการพัฒนาระบบ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DD1D34-7FB0-4FCA-A0D1-06B922E2A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86250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23454"/>
                </a:solidFill>
              </a:defRPr>
            </a:pPr>
            <a:r>
              <a:rPr sz="1500" b="1">
                <a:solidFill>
                  <a:srgbClr val="123454"/>
                </a:solidFill>
              </a:rPr>
              <a:t>นายบุญธรรม พันธ์ใหญ่  |  นักวิชาการคอมพิวเตอร์  |  สำนักงานสาธารณสุขอำเภอตาลสุม จังหวัดอุบลราชธานี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CE4EA4-87C7-4A60-A622-3B1DE79BC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72125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8F95"/>
                </a:solidFill>
              </a:defRPr>
            </a:pPr>
            <a:r>
              <a:rPr sz="1950" b="1">
                <a:solidFill>
                  <a:srgbClr val="008F95"/>
                </a:solidFill>
              </a:rPr>
              <a:t>ncd.ssotansum.com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470F6B-866D-457F-91AD-9982FFF69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A7185"/>
                </a:solidFill>
              </a:defRPr>
            </a:pPr>
            <a:r>
              <a:rPr sz="1500" b="0">
                <a:solidFill>
                  <a:srgbClr val="5A7185"/>
                </a:solidFill>
              </a:rPr>
              <a:t>คัดกรอง • ดูแล • ติดตาม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4B228A-17C9-4381-95C2-5E1EF7EEC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A7185"/>
                </a:solidFill>
              </a:defRPr>
            </a:pPr>
            <a:r>
              <a:rPr sz="900" b="0">
                <a:solidFill>
                  <a:srgbClr val="5A7185"/>
                </a:solidFill>
              </a:rPr>
              <a:t>NCDs Portal • สำนักงานสาธารณสุขอำเภอตาลสุม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075E80-1D8A-46DE-A3B0-3943A82BD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77000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8F95"/>
                </a:solidFill>
              </a:defRPr>
            </a:pPr>
            <a:r>
              <a:rPr sz="975" b="1">
                <a:solidFill>
                  <a:srgbClr val="008F95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0238372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2026-08-26T04:21:49.5270000Z</dcterms:created>
  <dcterms:modified xsi:type="dcterms:W3CDTF">2026-08-26T04:21:49.5280000Z</dcterms:modified>
</coreProperties>
</file>